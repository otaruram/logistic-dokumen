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9144000" cy="27432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1828800"/>
          </a:xfrm>
          <a:prstGeom prst="rect">
            <a:avLst/>
          </a:prstGeom>
          <a:noFill/>
        </p:spPr>
        <p:txBody>
          <a:bodyPr wrap="square">
            <a:spAutoFit/>
          </a:bodyPr>
          <a:lstStyle/>
          <a:p>
            <a:pPr algn="ctr">
              <a:defRPr sz="5400" b="1">
                <a:solidFill>
                  <a:srgbClr val="FFFFFF"/>
                </a:solidFill>
                <a:latin typeface="Segoe UI"/>
              </a:defRPr>
            </a:pPr>
            <a:r>
              <a:t>Unlocking the Future of Success: Strategies for Growth in a Dynamic Market</a:t>
            </a:r>
          </a:p>
        </p:txBody>
      </p:sp>
      <p:sp>
        <p:nvSpPr>
          <p:cNvPr id="4" name="TextBox 3"/>
          <p:cNvSpPr txBox="1"/>
          <p:nvPr/>
        </p:nvSpPr>
        <p:spPr>
          <a:xfrm>
            <a:off x="914400" y="4572000"/>
            <a:ext cx="7315200" cy="731520"/>
          </a:xfrm>
          <a:prstGeom prst="rect">
            <a:avLst/>
          </a:prstGeom>
          <a:noFill/>
        </p:spPr>
        <p:txBody>
          <a:bodyPr wrap="none">
            <a:spAutoFit/>
          </a:bodyPr>
          <a:lstStyle/>
          <a:p>
            <a:pPr algn="ctr">
              <a:defRPr sz="2000">
                <a:solidFill>
                  <a:srgbClr val="FFC107"/>
                </a:solidFill>
                <a:latin typeface="Segoe UI Light"/>
              </a:defRPr>
            </a:pPr>
            <a:r>
              <a:t>Premium Presentation • December 25, 2025</a:t>
            </a:r>
          </a:p>
        </p:txBody>
      </p:sp>
      <p:sp>
        <p:nvSpPr>
          <p:cNvPr id="5" name="Rounded Rectangle 4"/>
          <p:cNvSpPr/>
          <p:nvPr/>
        </p:nvSpPr>
        <p:spPr>
          <a:xfrm>
            <a:off x="3657600" y="5943600"/>
            <a:ext cx="1828800" cy="45720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4000" b="1">
                <a:solidFill>
                  <a:srgbClr val="FFC107"/>
                </a:solidFill>
                <a:latin typeface="Segoe UI"/>
              </a:defRPr>
            </a:pPr>
            <a:r>
              <a:t>Executive Summary</a:t>
            </a:r>
          </a:p>
        </p:txBody>
      </p:sp>
      <p:sp>
        <p:nvSpPr>
          <p:cNvPr id="4" name="TextBox 3"/>
          <p:cNvSpPr txBox="1"/>
          <p:nvPr/>
        </p:nvSpPr>
        <p:spPr>
          <a:xfrm>
            <a:off x="731520" y="1645920"/>
            <a:ext cx="7680960" cy="1828800"/>
          </a:xfrm>
          <a:prstGeom prst="rect">
            <a:avLst/>
          </a:prstGeom>
          <a:noFill/>
        </p:spPr>
        <p:txBody>
          <a:bodyPr wrap="square">
            <a:spAutoFit/>
          </a:bodyPr>
          <a:lstStyle/>
          <a:p>
            <a:pPr>
              <a:lnSpc>
                <a:spcPct val="150000"/>
              </a:lnSpc>
              <a:defRPr sz="1800">
                <a:solidFill>
                  <a:srgbClr val="FFFFFF"/>
                </a:solidFill>
                <a:latin typeface="Segoe UI"/>
              </a:defRPr>
            </a:pPr>
            <a:r>
              <a:t>This presentation explores innovative strategies essential for sustainable growth in today's rapidly evolving market landscape. Gain insights into current trends, actionable tactics, and proven results that can propel your organization forward.</a:t>
            </a:r>
          </a:p>
        </p:txBody>
      </p:sp>
      <p:sp>
        <p:nvSpPr>
          <p:cNvPr id="5" name="Oval 4"/>
          <p:cNvSpPr/>
          <p:nvPr/>
        </p:nvSpPr>
        <p:spPr>
          <a:xfrm>
            <a:off x="914400" y="3840480"/>
            <a:ext cx="137160" cy="13716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3749040"/>
            <a:ext cx="6858000" cy="457200"/>
          </a:xfrm>
          <a:prstGeom prst="rect">
            <a:avLst/>
          </a:prstGeom>
          <a:noFill/>
        </p:spPr>
        <p:txBody>
          <a:bodyPr wrap="none">
            <a:spAutoFit/>
          </a:bodyPr>
          <a:lstStyle/>
          <a:p>
            <a:pPr>
              <a:defRPr sz="1600">
                <a:solidFill>
                  <a:srgbClr val="FFFFFF"/>
                </a:solidFill>
                <a:latin typeface="Segoe UI"/>
              </a:defRPr>
            </a:pPr>
            <a:r>
              <a:t>Harness emerging trends to drive innovation and revenue.</a:t>
            </a:r>
          </a:p>
        </p:txBody>
      </p:sp>
      <p:sp>
        <p:nvSpPr>
          <p:cNvPr id="7" name="Oval 6"/>
          <p:cNvSpPr/>
          <p:nvPr/>
        </p:nvSpPr>
        <p:spPr>
          <a:xfrm>
            <a:off x="914400" y="4389120"/>
            <a:ext cx="137160" cy="13716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4297680"/>
            <a:ext cx="6858000" cy="457200"/>
          </a:xfrm>
          <a:prstGeom prst="rect">
            <a:avLst/>
          </a:prstGeom>
          <a:noFill/>
        </p:spPr>
        <p:txBody>
          <a:bodyPr wrap="none">
            <a:spAutoFit/>
          </a:bodyPr>
          <a:lstStyle/>
          <a:p>
            <a:pPr>
              <a:defRPr sz="1600">
                <a:solidFill>
                  <a:srgbClr val="FFFFFF"/>
                </a:solidFill>
                <a:latin typeface="Segoe UI"/>
              </a:defRPr>
            </a:pPr>
            <a:r>
              <a:t>Implement agile methodologies for swift market adaptation.</a:t>
            </a:r>
          </a:p>
        </p:txBody>
      </p:sp>
      <p:sp>
        <p:nvSpPr>
          <p:cNvPr id="9" name="Oval 8"/>
          <p:cNvSpPr/>
          <p:nvPr/>
        </p:nvSpPr>
        <p:spPr>
          <a:xfrm>
            <a:off x="914400" y="4937760"/>
            <a:ext cx="137160" cy="137160"/>
          </a:xfrm>
          <a:prstGeom prst="ellipse">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4846320"/>
            <a:ext cx="6858000" cy="457200"/>
          </a:xfrm>
          <a:prstGeom prst="rect">
            <a:avLst/>
          </a:prstGeom>
          <a:noFill/>
        </p:spPr>
        <p:txBody>
          <a:bodyPr wrap="none">
            <a:spAutoFit/>
          </a:bodyPr>
          <a:lstStyle/>
          <a:p>
            <a:pPr>
              <a:defRPr sz="1600">
                <a:solidFill>
                  <a:srgbClr val="FFFFFF"/>
                </a:solidFill>
                <a:latin typeface="Segoe UI"/>
              </a:defRPr>
            </a:pPr>
            <a:r>
              <a:t>Leverage data analytics for informed decision-making.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FFC107"/>
                </a:solidFill>
                <a:latin typeface="Segoe UI"/>
              </a:defRPr>
            </a:pPr>
            <a:r>
              <a:t>Understanding the Current Market Landscape</a:t>
            </a:r>
          </a:p>
        </p:txBody>
      </p:sp>
      <p:sp>
        <p:nvSpPr>
          <p:cNvPr id="4" name="Rectangle 3"/>
          <p:cNvSpPr/>
          <p:nvPr/>
        </p:nvSpPr>
        <p:spPr>
          <a:xfrm>
            <a:off x="731520" y="1371600"/>
            <a:ext cx="1828800" cy="4572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874520"/>
            <a:ext cx="6766560" cy="640080"/>
          </a:xfrm>
          <a:prstGeom prst="rect">
            <a:avLst/>
          </a:prstGeom>
          <a:noFill/>
        </p:spPr>
        <p:txBody>
          <a:bodyPr wrap="square">
            <a:spAutoFit/>
          </a:bodyPr>
          <a:lstStyle/>
          <a:p>
            <a:pPr>
              <a:lnSpc>
                <a:spcPct val="130000"/>
              </a:lnSpc>
              <a:defRPr sz="2200">
                <a:solidFill>
                  <a:srgbClr val="FFFFFF"/>
                </a:solidFill>
                <a:latin typeface="Segoe UI"/>
              </a:defRPr>
            </a:pPr>
            <a:r>
              <a:t>Global market growth projected at 4.5% annually through 2025.</a:t>
            </a:r>
          </a:p>
        </p:txBody>
      </p:sp>
      <p:sp>
        <p:nvSpPr>
          <p:cNvPr id="7" name="Rounded Rectangle 6"/>
          <p:cNvSpPr/>
          <p:nvPr/>
        </p:nvSpPr>
        <p:spPr>
          <a:xfrm>
            <a:off x="914400" y="283464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97480"/>
            <a:ext cx="6766560" cy="640080"/>
          </a:xfrm>
          <a:prstGeom prst="rect">
            <a:avLst/>
          </a:prstGeom>
          <a:noFill/>
        </p:spPr>
        <p:txBody>
          <a:bodyPr wrap="square">
            <a:spAutoFit/>
          </a:bodyPr>
          <a:lstStyle/>
          <a:p>
            <a:pPr>
              <a:lnSpc>
                <a:spcPct val="130000"/>
              </a:lnSpc>
              <a:defRPr sz="2200">
                <a:solidFill>
                  <a:srgbClr val="FFFFFF"/>
                </a:solidFill>
                <a:latin typeface="Segoe UI"/>
              </a:defRPr>
            </a:pPr>
            <a:r>
              <a:t>Increased consumer demand for personalized experiences.</a:t>
            </a:r>
          </a:p>
        </p:txBody>
      </p:sp>
      <p:sp>
        <p:nvSpPr>
          <p:cNvPr id="9" name="Rounded Rectangle 8"/>
          <p:cNvSpPr/>
          <p:nvPr/>
        </p:nvSpPr>
        <p:spPr>
          <a:xfrm>
            <a:off x="914400" y="365760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520440"/>
            <a:ext cx="6766560" cy="640080"/>
          </a:xfrm>
          <a:prstGeom prst="rect">
            <a:avLst/>
          </a:prstGeom>
          <a:noFill/>
        </p:spPr>
        <p:txBody>
          <a:bodyPr wrap="square">
            <a:spAutoFit/>
          </a:bodyPr>
          <a:lstStyle/>
          <a:p>
            <a:pPr>
              <a:lnSpc>
                <a:spcPct val="130000"/>
              </a:lnSpc>
              <a:defRPr sz="2200">
                <a:solidFill>
                  <a:srgbClr val="FFFFFF"/>
                </a:solidFill>
                <a:latin typeface="Segoe UI"/>
              </a:defRPr>
            </a:pPr>
            <a:r>
              <a:t>Technological advancements reshaping industry standards.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FFC107"/>
                </a:solidFill>
                <a:latin typeface="Segoe UI"/>
              </a:defRPr>
            </a:pPr>
            <a:r>
              <a:t>Identifying Key Growth Opportunities</a:t>
            </a:r>
          </a:p>
        </p:txBody>
      </p:sp>
      <p:sp>
        <p:nvSpPr>
          <p:cNvPr id="4" name="Rectangle 3"/>
          <p:cNvSpPr/>
          <p:nvPr/>
        </p:nvSpPr>
        <p:spPr>
          <a:xfrm>
            <a:off x="731520" y="1371600"/>
            <a:ext cx="1828800" cy="4572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874520"/>
            <a:ext cx="6766560" cy="640080"/>
          </a:xfrm>
          <a:prstGeom prst="rect">
            <a:avLst/>
          </a:prstGeom>
          <a:noFill/>
        </p:spPr>
        <p:txBody>
          <a:bodyPr wrap="square">
            <a:spAutoFit/>
          </a:bodyPr>
          <a:lstStyle/>
          <a:p>
            <a:pPr>
              <a:lnSpc>
                <a:spcPct val="130000"/>
              </a:lnSpc>
              <a:defRPr sz="2200">
                <a:solidFill>
                  <a:srgbClr val="FFFFFF"/>
                </a:solidFill>
                <a:latin typeface="Segoe UI"/>
              </a:defRPr>
            </a:pPr>
            <a:r>
              <a:t>Shift towards digital transformation across sectors.</a:t>
            </a:r>
          </a:p>
        </p:txBody>
      </p:sp>
      <p:sp>
        <p:nvSpPr>
          <p:cNvPr id="7" name="Rounded Rectangle 6"/>
          <p:cNvSpPr/>
          <p:nvPr/>
        </p:nvSpPr>
        <p:spPr>
          <a:xfrm>
            <a:off x="914400" y="283464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97480"/>
            <a:ext cx="6766560" cy="640080"/>
          </a:xfrm>
          <a:prstGeom prst="rect">
            <a:avLst/>
          </a:prstGeom>
          <a:noFill/>
        </p:spPr>
        <p:txBody>
          <a:bodyPr wrap="square">
            <a:spAutoFit/>
          </a:bodyPr>
          <a:lstStyle/>
          <a:p>
            <a:pPr>
              <a:lnSpc>
                <a:spcPct val="130000"/>
              </a:lnSpc>
              <a:defRPr sz="2200">
                <a:solidFill>
                  <a:srgbClr val="FFFFFF"/>
                </a:solidFill>
                <a:latin typeface="Segoe UI"/>
              </a:defRPr>
            </a:pPr>
            <a:r>
              <a:t>Sustainability as a competitive advantage.</a:t>
            </a:r>
          </a:p>
        </p:txBody>
      </p:sp>
      <p:sp>
        <p:nvSpPr>
          <p:cNvPr id="9" name="Rounded Rectangle 8"/>
          <p:cNvSpPr/>
          <p:nvPr/>
        </p:nvSpPr>
        <p:spPr>
          <a:xfrm>
            <a:off x="914400" y="365760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520440"/>
            <a:ext cx="6766560" cy="640080"/>
          </a:xfrm>
          <a:prstGeom prst="rect">
            <a:avLst/>
          </a:prstGeom>
          <a:noFill/>
        </p:spPr>
        <p:txBody>
          <a:bodyPr wrap="square">
            <a:spAutoFit/>
          </a:bodyPr>
          <a:lstStyle/>
          <a:p>
            <a:pPr>
              <a:lnSpc>
                <a:spcPct val="130000"/>
              </a:lnSpc>
              <a:defRPr sz="2200">
                <a:solidFill>
                  <a:srgbClr val="FFFFFF"/>
                </a:solidFill>
                <a:latin typeface="Segoe UI"/>
              </a:defRPr>
            </a:pPr>
            <a:r>
              <a:t>Strategic partnerships driving innovation.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FFC107"/>
                </a:solidFill>
                <a:latin typeface="Segoe UI"/>
              </a:defRPr>
            </a:pPr>
            <a:r>
              <a:t>Before vs After: Traditional vs Agile Approaches</a:t>
            </a:r>
          </a:p>
        </p:txBody>
      </p:sp>
      <p:sp>
        <p:nvSpPr>
          <p:cNvPr id="4" name="TextBox 3"/>
          <p:cNvSpPr txBox="1"/>
          <p:nvPr/>
        </p:nvSpPr>
        <p:spPr>
          <a:xfrm>
            <a:off x="731520" y="1645920"/>
            <a:ext cx="3657600" cy="457200"/>
          </a:xfrm>
          <a:prstGeom prst="rect">
            <a:avLst/>
          </a:prstGeom>
          <a:noFill/>
        </p:spPr>
        <p:txBody>
          <a:bodyPr wrap="none">
            <a:spAutoFit/>
          </a:bodyPr>
          <a:lstStyle/>
          <a:p>
            <a:pPr algn="ctr">
              <a:defRPr sz="2400" b="1">
                <a:solidFill>
                  <a:srgbClr val="FFC107"/>
                </a:solidFill>
                <a:latin typeface="Segoe UI"/>
              </a:defRPr>
            </a:pPr>
            <a:r>
              <a:t>Traditional Approach</a:t>
            </a:r>
          </a:p>
        </p:txBody>
      </p:sp>
      <p:sp>
        <p:nvSpPr>
          <p:cNvPr id="5" name="TextBox 4"/>
          <p:cNvSpPr txBox="1"/>
          <p:nvPr/>
        </p:nvSpPr>
        <p:spPr>
          <a:xfrm>
            <a:off x="914400" y="2286000"/>
            <a:ext cx="3291840" cy="548640"/>
          </a:xfrm>
          <a:prstGeom prst="rect">
            <a:avLst/>
          </a:prstGeom>
          <a:noFill/>
        </p:spPr>
        <p:txBody>
          <a:bodyPr wrap="square">
            <a:spAutoFit/>
          </a:bodyPr>
          <a:lstStyle/>
          <a:p>
            <a:pPr>
              <a:defRPr sz="1800">
                <a:solidFill>
                  <a:srgbClr val="FFFFFF"/>
                </a:solidFill>
                <a:latin typeface="Segoe UI"/>
              </a:defRPr>
            </a:pPr>
            <a:r>
              <a:t>• Rigid structures limiting responsiveness.</a:t>
            </a:r>
          </a:p>
        </p:txBody>
      </p:sp>
      <p:sp>
        <p:nvSpPr>
          <p:cNvPr id="6" name="TextBox 5"/>
          <p:cNvSpPr txBox="1"/>
          <p:nvPr/>
        </p:nvSpPr>
        <p:spPr>
          <a:xfrm>
            <a:off x="914400" y="3017520"/>
            <a:ext cx="3291840" cy="548640"/>
          </a:xfrm>
          <a:prstGeom prst="rect">
            <a:avLst/>
          </a:prstGeom>
          <a:noFill/>
        </p:spPr>
        <p:txBody>
          <a:bodyPr wrap="square">
            <a:spAutoFit/>
          </a:bodyPr>
          <a:lstStyle/>
          <a:p>
            <a:pPr>
              <a:defRPr sz="1800">
                <a:solidFill>
                  <a:srgbClr val="FFFFFF"/>
                </a:solidFill>
                <a:latin typeface="Segoe UI"/>
              </a:defRPr>
            </a:pPr>
            <a:r>
              <a:t>• Long product development cycles.</a:t>
            </a:r>
          </a:p>
        </p:txBody>
      </p:sp>
      <p:sp>
        <p:nvSpPr>
          <p:cNvPr id="7" name="TextBox 6"/>
          <p:cNvSpPr txBox="1"/>
          <p:nvPr/>
        </p:nvSpPr>
        <p:spPr>
          <a:xfrm>
            <a:off x="914400" y="3749039"/>
            <a:ext cx="3291840" cy="548640"/>
          </a:xfrm>
          <a:prstGeom prst="rect">
            <a:avLst/>
          </a:prstGeom>
          <a:noFill/>
        </p:spPr>
        <p:txBody>
          <a:bodyPr wrap="square">
            <a:spAutoFit/>
          </a:bodyPr>
          <a:lstStyle/>
          <a:p>
            <a:pPr>
              <a:defRPr sz="1800">
                <a:solidFill>
                  <a:srgbClr val="FFFFFF"/>
                </a:solidFill>
                <a:latin typeface="Segoe UI"/>
              </a:defRPr>
            </a:pPr>
            <a:r>
              <a:t>• Inflexible resource allocation.</a:t>
            </a:r>
          </a:p>
        </p:txBody>
      </p:sp>
      <p:sp>
        <p:nvSpPr>
          <p:cNvPr id="8" name="Rectangle 7"/>
          <p:cNvSpPr/>
          <p:nvPr/>
        </p:nvSpPr>
        <p:spPr>
          <a:xfrm>
            <a:off x="4480560" y="1645920"/>
            <a:ext cx="91440" cy="457200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1645920"/>
            <a:ext cx="3657600" cy="457200"/>
          </a:xfrm>
          <a:prstGeom prst="rect">
            <a:avLst/>
          </a:prstGeom>
          <a:noFill/>
        </p:spPr>
        <p:txBody>
          <a:bodyPr wrap="none">
            <a:spAutoFit/>
          </a:bodyPr>
          <a:lstStyle/>
          <a:p>
            <a:pPr algn="ctr">
              <a:defRPr sz="2400" b="1">
                <a:solidFill>
                  <a:srgbClr val="FFC107"/>
                </a:solidFill>
                <a:latin typeface="Segoe UI"/>
              </a:defRPr>
            </a:pPr>
            <a:r>
              <a:t>Agile Approach</a:t>
            </a:r>
          </a:p>
        </p:txBody>
      </p:sp>
      <p:sp>
        <p:nvSpPr>
          <p:cNvPr id="10" name="TextBox 9"/>
          <p:cNvSpPr txBox="1"/>
          <p:nvPr/>
        </p:nvSpPr>
        <p:spPr>
          <a:xfrm>
            <a:off x="4937760" y="2286000"/>
            <a:ext cx="3291840" cy="548640"/>
          </a:xfrm>
          <a:prstGeom prst="rect">
            <a:avLst/>
          </a:prstGeom>
          <a:noFill/>
        </p:spPr>
        <p:txBody>
          <a:bodyPr wrap="square">
            <a:spAutoFit/>
          </a:bodyPr>
          <a:lstStyle/>
          <a:p>
            <a:pPr>
              <a:defRPr sz="1800">
                <a:solidFill>
                  <a:srgbClr val="FFFFFF"/>
                </a:solidFill>
                <a:latin typeface="Segoe UI"/>
              </a:defRPr>
            </a:pPr>
            <a:r>
              <a:t>• Dynamic teams fostering adaptability.</a:t>
            </a:r>
          </a:p>
        </p:txBody>
      </p:sp>
      <p:sp>
        <p:nvSpPr>
          <p:cNvPr id="11" name="TextBox 10"/>
          <p:cNvSpPr txBox="1"/>
          <p:nvPr/>
        </p:nvSpPr>
        <p:spPr>
          <a:xfrm>
            <a:off x="4937760" y="3017520"/>
            <a:ext cx="3291840" cy="548640"/>
          </a:xfrm>
          <a:prstGeom prst="rect">
            <a:avLst/>
          </a:prstGeom>
          <a:noFill/>
        </p:spPr>
        <p:txBody>
          <a:bodyPr wrap="square">
            <a:spAutoFit/>
          </a:bodyPr>
          <a:lstStyle/>
          <a:p>
            <a:pPr>
              <a:defRPr sz="1800">
                <a:solidFill>
                  <a:srgbClr val="FFFFFF"/>
                </a:solidFill>
                <a:latin typeface="Segoe UI"/>
              </a:defRPr>
            </a:pPr>
            <a:r>
              <a:t>• Rapid iteration leading to quicker market entry.</a:t>
            </a:r>
          </a:p>
        </p:txBody>
      </p:sp>
      <p:sp>
        <p:nvSpPr>
          <p:cNvPr id="12" name="TextBox 11"/>
          <p:cNvSpPr txBox="1"/>
          <p:nvPr/>
        </p:nvSpPr>
        <p:spPr>
          <a:xfrm>
            <a:off x="4937760" y="3749039"/>
            <a:ext cx="3291840" cy="548640"/>
          </a:xfrm>
          <a:prstGeom prst="rect">
            <a:avLst/>
          </a:prstGeom>
          <a:noFill/>
        </p:spPr>
        <p:txBody>
          <a:bodyPr wrap="square">
            <a:spAutoFit/>
          </a:bodyPr>
          <a:lstStyle/>
          <a:p>
            <a:pPr>
              <a:defRPr sz="1800">
                <a:solidFill>
                  <a:srgbClr val="FFFFFF"/>
                </a:solidFill>
                <a:latin typeface="Segoe UI"/>
              </a:defRPr>
            </a:pPr>
            <a:r>
              <a:t>• Flexible resource management enhancing efficiency.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FFC107"/>
                </a:solidFill>
                <a:latin typeface="Segoe UI"/>
              </a:defRPr>
            </a:pPr>
            <a:r>
              <a:t>Leveraging Data for Strategic Insights</a:t>
            </a:r>
          </a:p>
        </p:txBody>
      </p:sp>
      <p:sp>
        <p:nvSpPr>
          <p:cNvPr id="4" name="Rectangle 3"/>
          <p:cNvSpPr/>
          <p:nvPr/>
        </p:nvSpPr>
        <p:spPr>
          <a:xfrm>
            <a:off x="731520" y="1371600"/>
            <a:ext cx="1828800" cy="4572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874520"/>
            <a:ext cx="6766560" cy="640080"/>
          </a:xfrm>
          <a:prstGeom prst="rect">
            <a:avLst/>
          </a:prstGeom>
          <a:noFill/>
        </p:spPr>
        <p:txBody>
          <a:bodyPr wrap="square">
            <a:spAutoFit/>
          </a:bodyPr>
          <a:lstStyle/>
          <a:p>
            <a:pPr>
              <a:lnSpc>
                <a:spcPct val="130000"/>
              </a:lnSpc>
              <a:defRPr sz="2200">
                <a:solidFill>
                  <a:srgbClr val="FFFFFF"/>
                </a:solidFill>
                <a:latin typeface="Segoe UI"/>
              </a:defRPr>
            </a:pPr>
            <a:r>
              <a:t>Companies using data analytics report 5-6% higher productivity.</a:t>
            </a:r>
          </a:p>
        </p:txBody>
      </p:sp>
      <p:sp>
        <p:nvSpPr>
          <p:cNvPr id="7" name="Rounded Rectangle 6"/>
          <p:cNvSpPr/>
          <p:nvPr/>
        </p:nvSpPr>
        <p:spPr>
          <a:xfrm>
            <a:off x="914400" y="283464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97480"/>
            <a:ext cx="6766560" cy="640080"/>
          </a:xfrm>
          <a:prstGeom prst="rect">
            <a:avLst/>
          </a:prstGeom>
          <a:noFill/>
        </p:spPr>
        <p:txBody>
          <a:bodyPr wrap="square">
            <a:spAutoFit/>
          </a:bodyPr>
          <a:lstStyle/>
          <a:p>
            <a:pPr>
              <a:lnSpc>
                <a:spcPct val="130000"/>
              </a:lnSpc>
              <a:defRPr sz="2200">
                <a:solidFill>
                  <a:srgbClr val="FFFFFF"/>
                </a:solidFill>
                <a:latin typeface="Segoe UI"/>
              </a:defRPr>
            </a:pPr>
            <a:r>
              <a:t>Real-time insights empower proactive decision-making.</a:t>
            </a:r>
          </a:p>
        </p:txBody>
      </p:sp>
      <p:sp>
        <p:nvSpPr>
          <p:cNvPr id="9" name="Rounded Rectangle 8"/>
          <p:cNvSpPr/>
          <p:nvPr/>
        </p:nvSpPr>
        <p:spPr>
          <a:xfrm>
            <a:off x="914400" y="365760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520440"/>
            <a:ext cx="6766560" cy="640080"/>
          </a:xfrm>
          <a:prstGeom prst="rect">
            <a:avLst/>
          </a:prstGeom>
          <a:noFill/>
        </p:spPr>
        <p:txBody>
          <a:bodyPr wrap="square">
            <a:spAutoFit/>
          </a:bodyPr>
          <a:lstStyle/>
          <a:p>
            <a:pPr>
              <a:lnSpc>
                <a:spcPct val="130000"/>
              </a:lnSpc>
              <a:defRPr sz="2200">
                <a:solidFill>
                  <a:srgbClr val="FFFFFF"/>
                </a:solidFill>
                <a:latin typeface="Segoe UI"/>
              </a:defRPr>
            </a:pPr>
            <a:r>
              <a:t>Predictive modeling reduces risks and enhances outcomes.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FFC107"/>
                </a:solidFill>
                <a:latin typeface="Segoe UI"/>
              </a:defRPr>
            </a:pPr>
            <a:r>
              <a:t>Implementing Innovative Solutions</a:t>
            </a:r>
          </a:p>
        </p:txBody>
      </p:sp>
      <p:sp>
        <p:nvSpPr>
          <p:cNvPr id="4" name="Rectangle 3"/>
          <p:cNvSpPr/>
          <p:nvPr/>
        </p:nvSpPr>
        <p:spPr>
          <a:xfrm>
            <a:off x="731520" y="1371600"/>
            <a:ext cx="1828800" cy="4572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874520"/>
            <a:ext cx="6766560" cy="640080"/>
          </a:xfrm>
          <a:prstGeom prst="rect">
            <a:avLst/>
          </a:prstGeom>
          <a:noFill/>
        </p:spPr>
        <p:txBody>
          <a:bodyPr wrap="square">
            <a:spAutoFit/>
          </a:bodyPr>
          <a:lstStyle/>
          <a:p>
            <a:pPr>
              <a:lnSpc>
                <a:spcPct val="130000"/>
              </a:lnSpc>
              <a:defRPr sz="2200">
                <a:solidFill>
                  <a:srgbClr val="FFFFFF"/>
                </a:solidFill>
                <a:latin typeface="Segoe UI"/>
              </a:defRPr>
            </a:pPr>
            <a:r>
              <a:t>Investing in AI and machine learning for operational efficiency.</a:t>
            </a:r>
          </a:p>
        </p:txBody>
      </p:sp>
      <p:sp>
        <p:nvSpPr>
          <p:cNvPr id="7" name="Rounded Rectangle 6"/>
          <p:cNvSpPr/>
          <p:nvPr/>
        </p:nvSpPr>
        <p:spPr>
          <a:xfrm>
            <a:off x="914400" y="283464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97480"/>
            <a:ext cx="6766560" cy="640080"/>
          </a:xfrm>
          <a:prstGeom prst="rect">
            <a:avLst/>
          </a:prstGeom>
          <a:noFill/>
        </p:spPr>
        <p:txBody>
          <a:bodyPr wrap="square">
            <a:spAutoFit/>
          </a:bodyPr>
          <a:lstStyle/>
          <a:p>
            <a:pPr>
              <a:lnSpc>
                <a:spcPct val="130000"/>
              </a:lnSpc>
              <a:defRPr sz="2200">
                <a:solidFill>
                  <a:srgbClr val="FFFFFF"/>
                </a:solidFill>
                <a:latin typeface="Segoe UI"/>
              </a:defRPr>
            </a:pPr>
            <a:r>
              <a:t>Utilizing customer feedback for continuous improvement.</a:t>
            </a:r>
          </a:p>
        </p:txBody>
      </p:sp>
      <p:sp>
        <p:nvSpPr>
          <p:cNvPr id="9" name="Rounded Rectangle 8"/>
          <p:cNvSpPr/>
          <p:nvPr/>
        </p:nvSpPr>
        <p:spPr>
          <a:xfrm>
            <a:off x="914400" y="365760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520440"/>
            <a:ext cx="6766560" cy="640080"/>
          </a:xfrm>
          <a:prstGeom prst="rect">
            <a:avLst/>
          </a:prstGeom>
          <a:noFill/>
        </p:spPr>
        <p:txBody>
          <a:bodyPr wrap="square">
            <a:spAutoFit/>
          </a:bodyPr>
          <a:lstStyle/>
          <a:p>
            <a:pPr>
              <a:lnSpc>
                <a:spcPct val="130000"/>
              </a:lnSpc>
              <a:defRPr sz="2200">
                <a:solidFill>
                  <a:srgbClr val="FFFFFF"/>
                </a:solidFill>
                <a:latin typeface="Segoe UI"/>
              </a:defRPr>
            </a:pPr>
            <a:r>
              <a:t>Integrating omnichannel strategies for enhanced engagement.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FFC107"/>
                </a:solidFill>
                <a:latin typeface="Segoe UI"/>
              </a:defRPr>
            </a:pPr>
            <a:r>
              <a:t>Pros vs Cons of Digital Transformation</a:t>
            </a:r>
          </a:p>
        </p:txBody>
      </p:sp>
      <p:sp>
        <p:nvSpPr>
          <p:cNvPr id="4" name="TextBox 3"/>
          <p:cNvSpPr txBox="1"/>
          <p:nvPr/>
        </p:nvSpPr>
        <p:spPr>
          <a:xfrm>
            <a:off x="731520" y="1645920"/>
            <a:ext cx="3657600" cy="457200"/>
          </a:xfrm>
          <a:prstGeom prst="rect">
            <a:avLst/>
          </a:prstGeom>
          <a:noFill/>
        </p:spPr>
        <p:txBody>
          <a:bodyPr wrap="none">
            <a:spAutoFit/>
          </a:bodyPr>
          <a:lstStyle/>
          <a:p>
            <a:pPr algn="ctr">
              <a:defRPr sz="2400" b="1">
                <a:solidFill>
                  <a:srgbClr val="FFC107"/>
                </a:solidFill>
                <a:latin typeface="Segoe UI"/>
              </a:defRPr>
            </a:pPr>
            <a:r>
              <a:t>Pros</a:t>
            </a:r>
          </a:p>
        </p:txBody>
      </p:sp>
      <p:sp>
        <p:nvSpPr>
          <p:cNvPr id="5" name="TextBox 4"/>
          <p:cNvSpPr txBox="1"/>
          <p:nvPr/>
        </p:nvSpPr>
        <p:spPr>
          <a:xfrm>
            <a:off x="914400" y="2286000"/>
            <a:ext cx="3291840" cy="548640"/>
          </a:xfrm>
          <a:prstGeom prst="rect">
            <a:avLst/>
          </a:prstGeom>
          <a:noFill/>
        </p:spPr>
        <p:txBody>
          <a:bodyPr wrap="square">
            <a:spAutoFit/>
          </a:bodyPr>
          <a:lstStyle/>
          <a:p>
            <a:pPr>
              <a:defRPr sz="1800">
                <a:solidFill>
                  <a:srgbClr val="FFFFFF"/>
                </a:solidFill>
                <a:latin typeface="Segoe UI"/>
              </a:defRPr>
            </a:pPr>
            <a:r>
              <a:t>• Increased operational agility and responsiveness.</a:t>
            </a:r>
          </a:p>
        </p:txBody>
      </p:sp>
      <p:sp>
        <p:nvSpPr>
          <p:cNvPr id="6" name="TextBox 5"/>
          <p:cNvSpPr txBox="1"/>
          <p:nvPr/>
        </p:nvSpPr>
        <p:spPr>
          <a:xfrm>
            <a:off x="914400" y="3017520"/>
            <a:ext cx="3291840" cy="548640"/>
          </a:xfrm>
          <a:prstGeom prst="rect">
            <a:avLst/>
          </a:prstGeom>
          <a:noFill/>
        </p:spPr>
        <p:txBody>
          <a:bodyPr wrap="square">
            <a:spAutoFit/>
          </a:bodyPr>
          <a:lstStyle/>
          <a:p>
            <a:pPr>
              <a:defRPr sz="1800">
                <a:solidFill>
                  <a:srgbClr val="FFFFFF"/>
                </a:solidFill>
                <a:latin typeface="Segoe UI"/>
              </a:defRPr>
            </a:pPr>
            <a:r>
              <a:t>• Enhanced customer engagement and retention.</a:t>
            </a:r>
          </a:p>
        </p:txBody>
      </p:sp>
      <p:sp>
        <p:nvSpPr>
          <p:cNvPr id="7" name="TextBox 6"/>
          <p:cNvSpPr txBox="1"/>
          <p:nvPr/>
        </p:nvSpPr>
        <p:spPr>
          <a:xfrm>
            <a:off x="914400" y="3749039"/>
            <a:ext cx="3291840" cy="548640"/>
          </a:xfrm>
          <a:prstGeom prst="rect">
            <a:avLst/>
          </a:prstGeom>
          <a:noFill/>
        </p:spPr>
        <p:txBody>
          <a:bodyPr wrap="square">
            <a:spAutoFit/>
          </a:bodyPr>
          <a:lstStyle/>
          <a:p>
            <a:pPr>
              <a:defRPr sz="1800">
                <a:solidFill>
                  <a:srgbClr val="FFFFFF"/>
                </a:solidFill>
                <a:latin typeface="Segoe UI"/>
              </a:defRPr>
            </a:pPr>
            <a:r>
              <a:t>• Access to valuable insights and trends.</a:t>
            </a:r>
          </a:p>
        </p:txBody>
      </p:sp>
      <p:sp>
        <p:nvSpPr>
          <p:cNvPr id="8" name="Rectangle 7"/>
          <p:cNvSpPr/>
          <p:nvPr/>
        </p:nvSpPr>
        <p:spPr>
          <a:xfrm>
            <a:off x="4480560" y="1645920"/>
            <a:ext cx="91440" cy="457200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1645920"/>
            <a:ext cx="3657600" cy="457200"/>
          </a:xfrm>
          <a:prstGeom prst="rect">
            <a:avLst/>
          </a:prstGeom>
          <a:noFill/>
        </p:spPr>
        <p:txBody>
          <a:bodyPr wrap="none">
            <a:spAutoFit/>
          </a:bodyPr>
          <a:lstStyle/>
          <a:p>
            <a:pPr algn="ctr">
              <a:defRPr sz="2400" b="1">
                <a:solidFill>
                  <a:srgbClr val="FFC107"/>
                </a:solidFill>
                <a:latin typeface="Segoe UI"/>
              </a:defRPr>
            </a:pPr>
            <a:r>
              <a:t>Cons</a:t>
            </a:r>
          </a:p>
        </p:txBody>
      </p:sp>
      <p:sp>
        <p:nvSpPr>
          <p:cNvPr id="10" name="TextBox 9"/>
          <p:cNvSpPr txBox="1"/>
          <p:nvPr/>
        </p:nvSpPr>
        <p:spPr>
          <a:xfrm>
            <a:off x="4937760" y="2286000"/>
            <a:ext cx="3291840" cy="548640"/>
          </a:xfrm>
          <a:prstGeom prst="rect">
            <a:avLst/>
          </a:prstGeom>
          <a:noFill/>
        </p:spPr>
        <p:txBody>
          <a:bodyPr wrap="square">
            <a:spAutoFit/>
          </a:bodyPr>
          <a:lstStyle/>
          <a:p>
            <a:pPr>
              <a:defRPr sz="1800">
                <a:solidFill>
                  <a:srgbClr val="FFFFFF"/>
                </a:solidFill>
                <a:latin typeface="Segoe UI"/>
              </a:defRPr>
            </a:pPr>
            <a:r>
              <a:t>• Initial investment can be substantial.</a:t>
            </a:r>
          </a:p>
        </p:txBody>
      </p:sp>
      <p:sp>
        <p:nvSpPr>
          <p:cNvPr id="11" name="TextBox 10"/>
          <p:cNvSpPr txBox="1"/>
          <p:nvPr/>
        </p:nvSpPr>
        <p:spPr>
          <a:xfrm>
            <a:off x="4937760" y="3017520"/>
            <a:ext cx="3291840" cy="548640"/>
          </a:xfrm>
          <a:prstGeom prst="rect">
            <a:avLst/>
          </a:prstGeom>
          <a:noFill/>
        </p:spPr>
        <p:txBody>
          <a:bodyPr wrap="square">
            <a:spAutoFit/>
          </a:bodyPr>
          <a:lstStyle/>
          <a:p>
            <a:pPr>
              <a:defRPr sz="1800">
                <a:solidFill>
                  <a:srgbClr val="FFFFFF"/>
                </a:solidFill>
                <a:latin typeface="Segoe UI"/>
              </a:defRPr>
            </a:pPr>
            <a:r>
              <a:t>• Potential resistance to change within the organization.</a:t>
            </a:r>
          </a:p>
        </p:txBody>
      </p:sp>
      <p:sp>
        <p:nvSpPr>
          <p:cNvPr id="12" name="TextBox 11"/>
          <p:cNvSpPr txBox="1"/>
          <p:nvPr/>
        </p:nvSpPr>
        <p:spPr>
          <a:xfrm>
            <a:off x="4937760" y="3749039"/>
            <a:ext cx="3291840" cy="548640"/>
          </a:xfrm>
          <a:prstGeom prst="rect">
            <a:avLst/>
          </a:prstGeom>
          <a:noFill/>
        </p:spPr>
        <p:txBody>
          <a:bodyPr wrap="square">
            <a:spAutoFit/>
          </a:bodyPr>
          <a:lstStyle/>
          <a:p>
            <a:pPr>
              <a:defRPr sz="1800">
                <a:solidFill>
                  <a:srgbClr val="FFFFFF"/>
                </a:solidFill>
                <a:latin typeface="Segoe UI"/>
              </a:defRPr>
            </a:pPr>
            <a:r>
              <a:t>• Cybersecurity risks require robust strategies.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FFC107"/>
                </a:solidFill>
                <a:latin typeface="Segoe UI"/>
              </a:defRPr>
            </a:pPr>
            <a:r>
              <a:t>Measuring Success: Key Performance Indicators</a:t>
            </a:r>
          </a:p>
        </p:txBody>
      </p:sp>
      <p:sp>
        <p:nvSpPr>
          <p:cNvPr id="4" name="Rectangle 3"/>
          <p:cNvSpPr/>
          <p:nvPr/>
        </p:nvSpPr>
        <p:spPr>
          <a:xfrm>
            <a:off x="731520" y="1371600"/>
            <a:ext cx="1828800" cy="4572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874520"/>
            <a:ext cx="6766560" cy="640080"/>
          </a:xfrm>
          <a:prstGeom prst="rect">
            <a:avLst/>
          </a:prstGeom>
          <a:noFill/>
        </p:spPr>
        <p:txBody>
          <a:bodyPr wrap="square">
            <a:spAutoFit/>
          </a:bodyPr>
          <a:lstStyle/>
          <a:p>
            <a:pPr>
              <a:lnSpc>
                <a:spcPct val="130000"/>
              </a:lnSpc>
              <a:defRPr sz="2200">
                <a:solidFill>
                  <a:srgbClr val="FFFFFF"/>
                </a:solidFill>
                <a:latin typeface="Segoe UI"/>
              </a:defRPr>
            </a:pPr>
            <a:r>
              <a:t>Customer satisfaction metrics show a 20% increase post-implementation.</a:t>
            </a:r>
          </a:p>
        </p:txBody>
      </p:sp>
      <p:sp>
        <p:nvSpPr>
          <p:cNvPr id="7" name="Rounded Rectangle 6"/>
          <p:cNvSpPr/>
          <p:nvPr/>
        </p:nvSpPr>
        <p:spPr>
          <a:xfrm>
            <a:off x="914400" y="283464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97480"/>
            <a:ext cx="6766560" cy="640080"/>
          </a:xfrm>
          <a:prstGeom prst="rect">
            <a:avLst/>
          </a:prstGeom>
          <a:noFill/>
        </p:spPr>
        <p:txBody>
          <a:bodyPr wrap="square">
            <a:spAutoFit/>
          </a:bodyPr>
          <a:lstStyle/>
          <a:p>
            <a:pPr>
              <a:lnSpc>
                <a:spcPct val="130000"/>
              </a:lnSpc>
              <a:defRPr sz="2200">
                <a:solidFill>
                  <a:srgbClr val="FFFFFF"/>
                </a:solidFill>
                <a:latin typeface="Segoe UI"/>
              </a:defRPr>
            </a:pPr>
            <a:r>
              <a:t>Operational costs reduced by 15% through efficiency measures.</a:t>
            </a:r>
          </a:p>
        </p:txBody>
      </p:sp>
      <p:sp>
        <p:nvSpPr>
          <p:cNvPr id="9" name="Rounded Rectangle 8"/>
          <p:cNvSpPr/>
          <p:nvPr/>
        </p:nvSpPr>
        <p:spPr>
          <a:xfrm>
            <a:off x="914400" y="365760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520440"/>
            <a:ext cx="6766560" cy="640080"/>
          </a:xfrm>
          <a:prstGeom prst="rect">
            <a:avLst/>
          </a:prstGeom>
          <a:noFill/>
        </p:spPr>
        <p:txBody>
          <a:bodyPr wrap="square">
            <a:spAutoFit/>
          </a:bodyPr>
          <a:lstStyle/>
          <a:p>
            <a:pPr>
              <a:lnSpc>
                <a:spcPct val="130000"/>
              </a:lnSpc>
              <a:defRPr sz="2200">
                <a:solidFill>
                  <a:srgbClr val="FFFFFF"/>
                </a:solidFill>
                <a:latin typeface="Segoe UI"/>
              </a:defRPr>
            </a:pPr>
            <a:r>
              <a:t>Market share growth by 10% within the first year.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FFC107"/>
                </a:solidFill>
                <a:latin typeface="Segoe UI"/>
              </a:defRPr>
            </a:pPr>
            <a:r>
              <a:t>Conclusion: Your Path Forward</a:t>
            </a:r>
          </a:p>
        </p:txBody>
      </p:sp>
      <p:sp>
        <p:nvSpPr>
          <p:cNvPr id="4" name="Rectangle 3"/>
          <p:cNvSpPr/>
          <p:nvPr/>
        </p:nvSpPr>
        <p:spPr>
          <a:xfrm>
            <a:off x="731520" y="1371600"/>
            <a:ext cx="1828800" cy="4572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874520"/>
            <a:ext cx="6766560" cy="640080"/>
          </a:xfrm>
          <a:prstGeom prst="rect">
            <a:avLst/>
          </a:prstGeom>
          <a:noFill/>
        </p:spPr>
        <p:txBody>
          <a:bodyPr wrap="square">
            <a:spAutoFit/>
          </a:bodyPr>
          <a:lstStyle/>
          <a:p>
            <a:pPr>
              <a:lnSpc>
                <a:spcPct val="130000"/>
              </a:lnSpc>
              <a:defRPr sz="2200">
                <a:solidFill>
                  <a:srgbClr val="FFFFFF"/>
                </a:solidFill>
                <a:latin typeface="Segoe UI"/>
              </a:defRPr>
            </a:pPr>
            <a:r>
              <a:t>Embrace innovation as a core value.</a:t>
            </a:r>
          </a:p>
        </p:txBody>
      </p:sp>
      <p:sp>
        <p:nvSpPr>
          <p:cNvPr id="7" name="Rounded Rectangle 6"/>
          <p:cNvSpPr/>
          <p:nvPr/>
        </p:nvSpPr>
        <p:spPr>
          <a:xfrm>
            <a:off x="914400" y="283464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97480"/>
            <a:ext cx="6766560" cy="640080"/>
          </a:xfrm>
          <a:prstGeom prst="rect">
            <a:avLst/>
          </a:prstGeom>
          <a:noFill/>
        </p:spPr>
        <p:txBody>
          <a:bodyPr wrap="square">
            <a:spAutoFit/>
          </a:bodyPr>
          <a:lstStyle/>
          <a:p>
            <a:pPr>
              <a:lnSpc>
                <a:spcPct val="130000"/>
              </a:lnSpc>
              <a:defRPr sz="2200">
                <a:solidFill>
                  <a:srgbClr val="FFFFFF"/>
                </a:solidFill>
                <a:latin typeface="Segoe UI"/>
              </a:defRPr>
            </a:pPr>
            <a:r>
              <a:t>Prioritize agility in business operations.</a:t>
            </a:r>
          </a:p>
        </p:txBody>
      </p:sp>
      <p:sp>
        <p:nvSpPr>
          <p:cNvPr id="9" name="Rounded Rectangle 8"/>
          <p:cNvSpPr/>
          <p:nvPr/>
        </p:nvSpPr>
        <p:spPr>
          <a:xfrm>
            <a:off x="914400" y="3657600"/>
            <a:ext cx="182880" cy="18288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520440"/>
            <a:ext cx="6766560" cy="640080"/>
          </a:xfrm>
          <a:prstGeom prst="rect">
            <a:avLst/>
          </a:prstGeom>
          <a:noFill/>
        </p:spPr>
        <p:txBody>
          <a:bodyPr wrap="square">
            <a:spAutoFit/>
          </a:bodyPr>
          <a:lstStyle/>
          <a:p>
            <a:pPr>
              <a:lnSpc>
                <a:spcPct val="130000"/>
              </a:lnSpc>
              <a:defRPr sz="2200">
                <a:solidFill>
                  <a:srgbClr val="FFFFFF"/>
                </a:solidFill>
                <a:latin typeface="Segoe UI"/>
              </a:defRPr>
            </a:pPr>
            <a:r>
              <a:t>Commit to data-driven decision-making for long-term success.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237E"/>
        </a:solidFill>
        <a:effectLst/>
      </p:bgPr>
    </p:bg>
    <p:spTree>
      <p:nvGrpSpPr>
        <p:cNvPr id="1" name=""/>
        <p:cNvGrpSpPr/>
        <p:nvPr/>
      </p:nvGrpSpPr>
      <p:grpSpPr/>
      <p:sp>
        <p:nvSpPr>
          <p:cNvPr id="2" name="Rectangle 1"/>
          <p:cNvSpPr/>
          <p:nvPr/>
        </p:nvSpPr>
        <p:spPr>
          <a:xfrm>
            <a:off x="0" y="0"/>
            <a:ext cx="9144000" cy="274320"/>
          </a:xfrm>
          <a:prstGeom prst="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7315200" cy="1371600"/>
          </a:xfrm>
          <a:prstGeom prst="rect">
            <a:avLst/>
          </a:prstGeom>
          <a:noFill/>
        </p:spPr>
        <p:txBody>
          <a:bodyPr wrap="none">
            <a:spAutoFit/>
          </a:bodyPr>
          <a:lstStyle/>
          <a:p>
            <a:pPr algn="ctr">
              <a:defRPr sz="6000" b="1">
                <a:solidFill>
                  <a:srgbClr val="FFC107"/>
                </a:solidFill>
                <a:latin typeface="Segoe UI"/>
              </a:defRPr>
            </a:pPr>
            <a:r>
              <a:t>Thank You</a:t>
            </a:r>
          </a:p>
        </p:txBody>
      </p:sp>
      <p:sp>
        <p:nvSpPr>
          <p:cNvPr id="4" name="TextBox 3"/>
          <p:cNvSpPr txBox="1"/>
          <p:nvPr/>
        </p:nvSpPr>
        <p:spPr>
          <a:xfrm>
            <a:off x="914400" y="4389120"/>
            <a:ext cx="7315200" cy="457200"/>
          </a:xfrm>
          <a:prstGeom prst="rect">
            <a:avLst/>
          </a:prstGeom>
          <a:noFill/>
        </p:spPr>
        <p:txBody>
          <a:bodyPr wrap="none">
            <a:spAutoFit/>
          </a:bodyPr>
          <a:lstStyle/>
          <a:p>
            <a:pPr algn="ctr">
              <a:defRPr sz="2400">
                <a:solidFill>
                  <a:srgbClr val="FFFFFF"/>
                </a:solidFill>
                <a:latin typeface="Segoe UI Light"/>
              </a:defRPr>
            </a:pPr>
            <a:r>
              <a:t>Questions &amp; Discussion</a:t>
            </a:r>
          </a:p>
        </p:txBody>
      </p:sp>
      <p:sp>
        <p:nvSpPr>
          <p:cNvPr id="5" name="Rounded Rectangle 4"/>
          <p:cNvSpPr/>
          <p:nvPr/>
        </p:nvSpPr>
        <p:spPr>
          <a:xfrm>
            <a:off x="3657600" y="5486400"/>
            <a:ext cx="1828800" cy="457200"/>
          </a:xfrm>
          <a:prstGeom prst="roundRect">
            <a:avLst/>
          </a:prstGeom>
          <a:solidFill>
            <a:srgbClr val="FFC10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
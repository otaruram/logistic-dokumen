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274320"/>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7315200" cy="1828800"/>
          </a:xfrm>
          <a:prstGeom prst="rect">
            <a:avLst/>
          </a:prstGeom>
          <a:noFill/>
        </p:spPr>
        <p:txBody>
          <a:bodyPr wrap="square">
            <a:spAutoFit/>
          </a:bodyPr>
          <a:lstStyle/>
          <a:p>
            <a:pPr algn="ctr">
              <a:defRPr sz="5400" b="1">
                <a:solidFill>
                  <a:srgbClr val="FFFFFF"/>
                </a:solidFill>
                <a:latin typeface="Segoe UI"/>
              </a:defRPr>
            </a:pPr>
            <a:r>
              <a:t>Strategi EWE Paksa: Meningkatkan Kinerja Tim secara Efektif</a:t>
            </a:r>
          </a:p>
        </p:txBody>
      </p:sp>
      <p:sp>
        <p:nvSpPr>
          <p:cNvPr id="4" name="TextBox 3"/>
          <p:cNvSpPr txBox="1"/>
          <p:nvPr/>
        </p:nvSpPr>
        <p:spPr>
          <a:xfrm>
            <a:off x="914400" y="4572000"/>
            <a:ext cx="7315200" cy="731520"/>
          </a:xfrm>
          <a:prstGeom prst="rect">
            <a:avLst/>
          </a:prstGeom>
          <a:noFill/>
        </p:spPr>
        <p:txBody>
          <a:bodyPr wrap="none">
            <a:spAutoFit/>
          </a:bodyPr>
          <a:lstStyle/>
          <a:p>
            <a:pPr algn="ctr">
              <a:defRPr sz="2000">
                <a:solidFill>
                  <a:srgbClr val="00BCD4"/>
                </a:solidFill>
                <a:latin typeface="Segoe UI Light"/>
              </a:defRPr>
            </a:pPr>
            <a:r>
              <a:t>Premium Presentation • December 25, 2025</a:t>
            </a:r>
          </a:p>
        </p:txBody>
      </p:sp>
      <p:sp>
        <p:nvSpPr>
          <p:cNvPr id="5" name="Rounded Rectangle 4"/>
          <p:cNvSpPr/>
          <p:nvPr/>
        </p:nvSpPr>
        <p:spPr>
          <a:xfrm>
            <a:off x="3657600" y="5943600"/>
            <a:ext cx="1828800" cy="457200"/>
          </a:xfrm>
          <a:prstGeom prst="round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182880"/>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none">
            <a:spAutoFit/>
          </a:bodyPr>
          <a:lstStyle/>
          <a:p>
            <a:pPr>
              <a:defRPr sz="4000" b="1">
                <a:solidFill>
                  <a:srgbClr val="00BCD4"/>
                </a:solidFill>
                <a:latin typeface="Segoe UI"/>
              </a:defRPr>
            </a:pPr>
            <a:r>
              <a:t>Executive Summary</a:t>
            </a:r>
          </a:p>
        </p:txBody>
      </p:sp>
      <p:sp>
        <p:nvSpPr>
          <p:cNvPr id="4" name="TextBox 3"/>
          <p:cNvSpPr txBox="1"/>
          <p:nvPr/>
        </p:nvSpPr>
        <p:spPr>
          <a:xfrm>
            <a:off x="731520" y="1645920"/>
            <a:ext cx="7680960" cy="1828800"/>
          </a:xfrm>
          <a:prstGeom prst="rect">
            <a:avLst/>
          </a:prstGeom>
          <a:noFill/>
        </p:spPr>
        <p:txBody>
          <a:bodyPr wrap="square">
            <a:spAutoFit/>
          </a:bodyPr>
          <a:lstStyle/>
          <a:p>
            <a:pPr>
              <a:lnSpc>
                <a:spcPct val="150000"/>
              </a:lnSpc>
              <a:defRPr sz="1800">
                <a:solidFill>
                  <a:srgbClr val="FFFFFF"/>
                </a:solidFill>
                <a:latin typeface="Segoe UI"/>
              </a:defRPr>
            </a:pPr>
            <a:r>
              <a:t>Dalam presentasi ini, kita akan membahas metode EWE Paksa sebagai strategi untuk meningkatkan produktivitas dan kinerja tim. Dikenal sebagai pendekatan yang dapat mengubah dinamika kerja, EWE Paksa memungkinkan tim untuk beradaptasi dan berinovasi di tengah tantangan yang ada.</a:t>
            </a:r>
          </a:p>
        </p:txBody>
      </p:sp>
      <p:sp>
        <p:nvSpPr>
          <p:cNvPr id="5" name="Oval 4"/>
          <p:cNvSpPr/>
          <p:nvPr/>
        </p:nvSpPr>
        <p:spPr>
          <a:xfrm>
            <a:off x="914400" y="3840480"/>
            <a:ext cx="137160" cy="137160"/>
          </a:xfrm>
          <a:prstGeom prst="ellipse">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3749040"/>
            <a:ext cx="6858000" cy="457200"/>
          </a:xfrm>
          <a:prstGeom prst="rect">
            <a:avLst/>
          </a:prstGeom>
          <a:noFill/>
        </p:spPr>
        <p:txBody>
          <a:bodyPr wrap="none">
            <a:spAutoFit/>
          </a:bodyPr>
          <a:lstStyle/>
          <a:p>
            <a:pPr>
              <a:defRPr sz="1600">
                <a:solidFill>
                  <a:srgbClr val="FFFFFF"/>
                </a:solidFill>
                <a:latin typeface="Segoe UI"/>
              </a:defRPr>
            </a:pPr>
            <a:r>
              <a:t>Meningkatkan kolaborasi tim</a:t>
            </a:r>
          </a:p>
        </p:txBody>
      </p:sp>
      <p:sp>
        <p:nvSpPr>
          <p:cNvPr id="7" name="Oval 6"/>
          <p:cNvSpPr/>
          <p:nvPr/>
        </p:nvSpPr>
        <p:spPr>
          <a:xfrm>
            <a:off x="914400" y="4389120"/>
            <a:ext cx="137160" cy="137160"/>
          </a:xfrm>
          <a:prstGeom prst="ellipse">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4297680"/>
            <a:ext cx="6858000" cy="457200"/>
          </a:xfrm>
          <a:prstGeom prst="rect">
            <a:avLst/>
          </a:prstGeom>
          <a:noFill/>
        </p:spPr>
        <p:txBody>
          <a:bodyPr wrap="none">
            <a:spAutoFit/>
          </a:bodyPr>
          <a:lstStyle/>
          <a:p>
            <a:pPr>
              <a:defRPr sz="1600">
                <a:solidFill>
                  <a:srgbClr val="FFFFFF"/>
                </a:solidFill>
                <a:latin typeface="Segoe UI"/>
              </a:defRPr>
            </a:pPr>
            <a:r>
              <a:t>Mengurangi waktu penyelesaian tugas</a:t>
            </a:r>
          </a:p>
        </p:txBody>
      </p:sp>
      <p:sp>
        <p:nvSpPr>
          <p:cNvPr id="9" name="Oval 8"/>
          <p:cNvSpPr/>
          <p:nvPr/>
        </p:nvSpPr>
        <p:spPr>
          <a:xfrm>
            <a:off x="914400" y="4937760"/>
            <a:ext cx="137160" cy="137160"/>
          </a:xfrm>
          <a:prstGeom prst="ellipse">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4846320"/>
            <a:ext cx="6858000" cy="457200"/>
          </a:xfrm>
          <a:prstGeom prst="rect">
            <a:avLst/>
          </a:prstGeom>
          <a:noFill/>
        </p:spPr>
        <p:txBody>
          <a:bodyPr wrap="none">
            <a:spAutoFit/>
          </a:bodyPr>
          <a:lstStyle/>
          <a:p>
            <a:pPr>
              <a:defRPr sz="1600">
                <a:solidFill>
                  <a:srgbClr val="FFFFFF"/>
                </a:solidFill>
                <a:latin typeface="Segoe UI"/>
              </a:defRPr>
            </a:pPr>
            <a:r>
              <a:t>Mendorong inovasi dan kreativitas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182880"/>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none">
            <a:spAutoFit/>
          </a:bodyPr>
          <a:lstStyle/>
          <a:p>
            <a:pPr>
              <a:defRPr sz="3600" b="1">
                <a:solidFill>
                  <a:srgbClr val="00BCD4"/>
                </a:solidFill>
                <a:latin typeface="Segoe UI"/>
              </a:defRPr>
            </a:pPr>
            <a:r>
              <a:t>Apa itu EWE Paksa?</a:t>
            </a:r>
          </a:p>
        </p:txBody>
      </p:sp>
      <p:sp>
        <p:nvSpPr>
          <p:cNvPr id="4" name="Rectangle 3"/>
          <p:cNvSpPr/>
          <p:nvPr/>
        </p:nvSpPr>
        <p:spPr>
          <a:xfrm>
            <a:off x="731520" y="1371600"/>
            <a:ext cx="1828800" cy="45720"/>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2011680"/>
            <a:ext cx="182880" cy="182880"/>
          </a:xfrm>
          <a:prstGeom prst="round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1874520"/>
            <a:ext cx="6766560" cy="640080"/>
          </a:xfrm>
          <a:prstGeom prst="rect">
            <a:avLst/>
          </a:prstGeom>
          <a:noFill/>
        </p:spPr>
        <p:txBody>
          <a:bodyPr wrap="square">
            <a:spAutoFit/>
          </a:bodyPr>
          <a:lstStyle/>
          <a:p>
            <a:pPr>
              <a:lnSpc>
                <a:spcPct val="130000"/>
              </a:lnSpc>
              <a:defRPr sz="2200">
                <a:solidFill>
                  <a:srgbClr val="FFFFFF"/>
                </a:solidFill>
                <a:latin typeface="Segoe UI"/>
              </a:defRPr>
            </a:pPr>
            <a:r>
              <a:t>Metode untuk mendorong hasil maksimal</a:t>
            </a:r>
          </a:p>
        </p:txBody>
      </p:sp>
      <p:sp>
        <p:nvSpPr>
          <p:cNvPr id="7" name="Rounded Rectangle 6"/>
          <p:cNvSpPr/>
          <p:nvPr/>
        </p:nvSpPr>
        <p:spPr>
          <a:xfrm>
            <a:off x="914400" y="2834640"/>
            <a:ext cx="182880" cy="182880"/>
          </a:xfrm>
          <a:prstGeom prst="round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2697480"/>
            <a:ext cx="6766560" cy="640080"/>
          </a:xfrm>
          <a:prstGeom prst="rect">
            <a:avLst/>
          </a:prstGeom>
          <a:noFill/>
        </p:spPr>
        <p:txBody>
          <a:bodyPr wrap="square">
            <a:spAutoFit/>
          </a:bodyPr>
          <a:lstStyle/>
          <a:p>
            <a:pPr>
              <a:lnSpc>
                <a:spcPct val="130000"/>
              </a:lnSpc>
              <a:defRPr sz="2200">
                <a:solidFill>
                  <a:srgbClr val="FFFFFF"/>
                </a:solidFill>
                <a:latin typeface="Segoe UI"/>
              </a:defRPr>
            </a:pPr>
            <a:r>
              <a:t>Fokus pada penyelesaian tugas secara efisien</a:t>
            </a:r>
          </a:p>
        </p:txBody>
      </p:sp>
      <p:sp>
        <p:nvSpPr>
          <p:cNvPr id="9" name="Rounded Rectangle 8"/>
          <p:cNvSpPr/>
          <p:nvPr/>
        </p:nvSpPr>
        <p:spPr>
          <a:xfrm>
            <a:off x="914400" y="3657600"/>
            <a:ext cx="182880" cy="182880"/>
          </a:xfrm>
          <a:prstGeom prst="round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3520440"/>
            <a:ext cx="6766560" cy="640080"/>
          </a:xfrm>
          <a:prstGeom prst="rect">
            <a:avLst/>
          </a:prstGeom>
          <a:noFill/>
        </p:spPr>
        <p:txBody>
          <a:bodyPr wrap="square">
            <a:spAutoFit/>
          </a:bodyPr>
          <a:lstStyle/>
          <a:p>
            <a:pPr>
              <a:lnSpc>
                <a:spcPct val="130000"/>
              </a:lnSpc>
              <a:defRPr sz="2200">
                <a:solidFill>
                  <a:srgbClr val="FFFFFF"/>
                </a:solidFill>
                <a:latin typeface="Segoe UI"/>
              </a:defRPr>
            </a:pPr>
            <a:r>
              <a:t>Mengintegrasikan pendekatan kolaboratif</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182880"/>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none">
            <a:spAutoFit/>
          </a:bodyPr>
          <a:lstStyle/>
          <a:p>
            <a:pPr>
              <a:defRPr sz="3600" b="1">
                <a:solidFill>
                  <a:srgbClr val="00BCD4"/>
                </a:solidFill>
                <a:latin typeface="Segoe UI"/>
              </a:defRPr>
            </a:pPr>
            <a:r>
              <a:t>Manfaat EWE Paksa</a:t>
            </a:r>
          </a:p>
        </p:txBody>
      </p:sp>
      <p:sp>
        <p:nvSpPr>
          <p:cNvPr id="4" name="Rectangle 3"/>
          <p:cNvSpPr/>
          <p:nvPr/>
        </p:nvSpPr>
        <p:spPr>
          <a:xfrm>
            <a:off x="731520" y="1371600"/>
            <a:ext cx="1828800" cy="45720"/>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2011680"/>
            <a:ext cx="182880" cy="182880"/>
          </a:xfrm>
          <a:prstGeom prst="round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1874520"/>
            <a:ext cx="6766560" cy="640080"/>
          </a:xfrm>
          <a:prstGeom prst="rect">
            <a:avLst/>
          </a:prstGeom>
          <a:noFill/>
        </p:spPr>
        <p:txBody>
          <a:bodyPr wrap="square">
            <a:spAutoFit/>
          </a:bodyPr>
          <a:lstStyle/>
          <a:p>
            <a:pPr>
              <a:lnSpc>
                <a:spcPct val="130000"/>
              </a:lnSpc>
              <a:defRPr sz="2200">
                <a:solidFill>
                  <a:srgbClr val="FFFFFF"/>
                </a:solidFill>
                <a:latin typeface="Segoe UI"/>
              </a:defRPr>
            </a:pPr>
            <a:r>
              <a:t>Mendorong produktivitas tinggi</a:t>
            </a:r>
          </a:p>
        </p:txBody>
      </p:sp>
      <p:sp>
        <p:nvSpPr>
          <p:cNvPr id="7" name="Rounded Rectangle 6"/>
          <p:cNvSpPr/>
          <p:nvPr/>
        </p:nvSpPr>
        <p:spPr>
          <a:xfrm>
            <a:off x="914400" y="2834640"/>
            <a:ext cx="182880" cy="182880"/>
          </a:xfrm>
          <a:prstGeom prst="round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2697480"/>
            <a:ext cx="6766560" cy="640080"/>
          </a:xfrm>
          <a:prstGeom prst="rect">
            <a:avLst/>
          </a:prstGeom>
          <a:noFill/>
        </p:spPr>
        <p:txBody>
          <a:bodyPr wrap="square">
            <a:spAutoFit/>
          </a:bodyPr>
          <a:lstStyle/>
          <a:p>
            <a:pPr>
              <a:lnSpc>
                <a:spcPct val="130000"/>
              </a:lnSpc>
              <a:defRPr sz="2200">
                <a:solidFill>
                  <a:srgbClr val="FFFFFF"/>
                </a:solidFill>
                <a:latin typeface="Segoe UI"/>
              </a:defRPr>
            </a:pPr>
            <a:r>
              <a:t>Meningkatkan kepuasan tim</a:t>
            </a:r>
          </a:p>
        </p:txBody>
      </p:sp>
      <p:sp>
        <p:nvSpPr>
          <p:cNvPr id="9" name="Rounded Rectangle 8"/>
          <p:cNvSpPr/>
          <p:nvPr/>
        </p:nvSpPr>
        <p:spPr>
          <a:xfrm>
            <a:off x="914400" y="3657600"/>
            <a:ext cx="182880" cy="182880"/>
          </a:xfrm>
          <a:prstGeom prst="round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3520440"/>
            <a:ext cx="6766560" cy="640080"/>
          </a:xfrm>
          <a:prstGeom prst="rect">
            <a:avLst/>
          </a:prstGeom>
          <a:noFill/>
        </p:spPr>
        <p:txBody>
          <a:bodyPr wrap="square">
            <a:spAutoFit/>
          </a:bodyPr>
          <a:lstStyle/>
          <a:p>
            <a:pPr>
              <a:lnSpc>
                <a:spcPct val="130000"/>
              </a:lnSpc>
              <a:defRPr sz="2200">
                <a:solidFill>
                  <a:srgbClr val="FFFFFF"/>
                </a:solidFill>
                <a:latin typeface="Segoe UI"/>
              </a:defRPr>
            </a:pPr>
            <a:r>
              <a:t>Mempercepat proses pengambilan keputusan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182880"/>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none">
            <a:spAutoFit/>
          </a:bodyPr>
          <a:lstStyle/>
          <a:p>
            <a:pPr>
              <a:defRPr sz="3600" b="1">
                <a:solidFill>
                  <a:srgbClr val="00BCD4"/>
                </a:solidFill>
                <a:latin typeface="Segoe UI"/>
              </a:defRPr>
            </a:pPr>
            <a:r>
              <a:t>Sebelum vs Setelah Implementasi EWE Paksa</a:t>
            </a:r>
          </a:p>
        </p:txBody>
      </p:sp>
      <p:sp>
        <p:nvSpPr>
          <p:cNvPr id="4" name="TextBox 3"/>
          <p:cNvSpPr txBox="1"/>
          <p:nvPr/>
        </p:nvSpPr>
        <p:spPr>
          <a:xfrm>
            <a:off x="731520" y="1645920"/>
            <a:ext cx="3657600" cy="457200"/>
          </a:xfrm>
          <a:prstGeom prst="rect">
            <a:avLst/>
          </a:prstGeom>
          <a:noFill/>
        </p:spPr>
        <p:txBody>
          <a:bodyPr wrap="none">
            <a:spAutoFit/>
          </a:bodyPr>
          <a:lstStyle/>
          <a:p>
            <a:pPr algn="ctr">
              <a:defRPr sz="2400" b="1">
                <a:solidFill>
                  <a:srgbClr val="00BCD4"/>
                </a:solidFill>
                <a:latin typeface="Segoe UI"/>
              </a:defRPr>
            </a:pPr>
            <a:r>
              <a:t>Sebelum / Tantangan</a:t>
            </a:r>
          </a:p>
        </p:txBody>
      </p:sp>
      <p:sp>
        <p:nvSpPr>
          <p:cNvPr id="5" name="TextBox 4"/>
          <p:cNvSpPr txBox="1"/>
          <p:nvPr/>
        </p:nvSpPr>
        <p:spPr>
          <a:xfrm>
            <a:off x="914400" y="2286000"/>
            <a:ext cx="3291840" cy="548640"/>
          </a:xfrm>
          <a:prstGeom prst="rect">
            <a:avLst/>
          </a:prstGeom>
          <a:noFill/>
        </p:spPr>
        <p:txBody>
          <a:bodyPr wrap="square">
            <a:spAutoFit/>
          </a:bodyPr>
          <a:lstStyle/>
          <a:p>
            <a:pPr>
              <a:defRPr sz="1800">
                <a:solidFill>
                  <a:srgbClr val="FFFFFF"/>
                </a:solidFill>
                <a:latin typeface="Segoe UI"/>
              </a:defRPr>
            </a:pPr>
            <a:r>
              <a:t>• Rendahnya kolaborasi antartim</a:t>
            </a:r>
          </a:p>
        </p:txBody>
      </p:sp>
      <p:sp>
        <p:nvSpPr>
          <p:cNvPr id="6" name="TextBox 5"/>
          <p:cNvSpPr txBox="1"/>
          <p:nvPr/>
        </p:nvSpPr>
        <p:spPr>
          <a:xfrm>
            <a:off x="914400" y="3017520"/>
            <a:ext cx="3291840" cy="548640"/>
          </a:xfrm>
          <a:prstGeom prst="rect">
            <a:avLst/>
          </a:prstGeom>
          <a:noFill/>
        </p:spPr>
        <p:txBody>
          <a:bodyPr wrap="square">
            <a:spAutoFit/>
          </a:bodyPr>
          <a:lstStyle/>
          <a:p>
            <a:pPr>
              <a:defRPr sz="1800">
                <a:solidFill>
                  <a:srgbClr val="FFFFFF"/>
                </a:solidFill>
                <a:latin typeface="Segoe UI"/>
              </a:defRPr>
            </a:pPr>
            <a:r>
              <a:t>• Lama dalam penyelesaian proyek</a:t>
            </a:r>
          </a:p>
        </p:txBody>
      </p:sp>
      <p:sp>
        <p:nvSpPr>
          <p:cNvPr id="7" name="Rectangle 6"/>
          <p:cNvSpPr/>
          <p:nvPr/>
        </p:nvSpPr>
        <p:spPr>
          <a:xfrm>
            <a:off x="4480560" y="1645920"/>
            <a:ext cx="91440" cy="4572000"/>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0" y="1645920"/>
            <a:ext cx="3657600" cy="457200"/>
          </a:xfrm>
          <a:prstGeom prst="rect">
            <a:avLst/>
          </a:prstGeom>
          <a:noFill/>
        </p:spPr>
        <p:txBody>
          <a:bodyPr wrap="none">
            <a:spAutoFit/>
          </a:bodyPr>
          <a:lstStyle/>
          <a:p>
            <a:pPr algn="ctr">
              <a:defRPr sz="2400" b="1">
                <a:solidFill>
                  <a:srgbClr val="00BCD4"/>
                </a:solidFill>
                <a:latin typeface="Segoe UI"/>
              </a:defRPr>
            </a:pPr>
            <a:r>
              <a:t>Setelah / Solusi</a:t>
            </a:r>
          </a:p>
        </p:txBody>
      </p:sp>
      <p:sp>
        <p:nvSpPr>
          <p:cNvPr id="9" name="TextBox 8"/>
          <p:cNvSpPr txBox="1"/>
          <p:nvPr/>
        </p:nvSpPr>
        <p:spPr>
          <a:xfrm>
            <a:off x="4937760" y="2286000"/>
            <a:ext cx="3291840" cy="548640"/>
          </a:xfrm>
          <a:prstGeom prst="rect">
            <a:avLst/>
          </a:prstGeom>
          <a:noFill/>
        </p:spPr>
        <p:txBody>
          <a:bodyPr wrap="square">
            <a:spAutoFit/>
          </a:bodyPr>
          <a:lstStyle/>
          <a:p>
            <a:pPr>
              <a:defRPr sz="1800">
                <a:solidFill>
                  <a:srgbClr val="FFFFFF"/>
                </a:solidFill>
                <a:latin typeface="Segoe UI"/>
              </a:defRPr>
            </a:pPr>
            <a:r>
              <a:t>• Kolaborasi yang lebih baik</a:t>
            </a:r>
          </a:p>
        </p:txBody>
      </p:sp>
      <p:sp>
        <p:nvSpPr>
          <p:cNvPr id="10" name="TextBox 9"/>
          <p:cNvSpPr txBox="1"/>
          <p:nvPr/>
        </p:nvSpPr>
        <p:spPr>
          <a:xfrm>
            <a:off x="4937760" y="3017520"/>
            <a:ext cx="3291840" cy="548640"/>
          </a:xfrm>
          <a:prstGeom prst="rect">
            <a:avLst/>
          </a:prstGeom>
          <a:noFill/>
        </p:spPr>
        <p:txBody>
          <a:bodyPr wrap="square">
            <a:spAutoFit/>
          </a:bodyPr>
          <a:lstStyle/>
          <a:p>
            <a:pPr>
              <a:defRPr sz="1800">
                <a:solidFill>
                  <a:srgbClr val="FFFFFF"/>
                </a:solidFill>
                <a:latin typeface="Segoe UI"/>
              </a:defRPr>
            </a:pPr>
            <a:r>
              <a:t>• Proyek selesai lebih cepat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182880"/>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none">
            <a:spAutoFit/>
          </a:bodyPr>
          <a:lstStyle/>
          <a:p>
            <a:pPr>
              <a:defRPr sz="3600" b="1">
                <a:solidFill>
                  <a:srgbClr val="00BCD4"/>
                </a:solidFill>
                <a:latin typeface="Segoe UI"/>
              </a:defRPr>
            </a:pPr>
            <a:r>
              <a:t>Langkah-langkah Implementasi</a:t>
            </a:r>
          </a:p>
        </p:txBody>
      </p:sp>
      <p:sp>
        <p:nvSpPr>
          <p:cNvPr id="4" name="Rectangle 3"/>
          <p:cNvSpPr/>
          <p:nvPr/>
        </p:nvSpPr>
        <p:spPr>
          <a:xfrm>
            <a:off x="731520" y="1371600"/>
            <a:ext cx="1828800" cy="45720"/>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2011680"/>
            <a:ext cx="182880" cy="182880"/>
          </a:xfrm>
          <a:prstGeom prst="round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1874520"/>
            <a:ext cx="6766560" cy="640080"/>
          </a:xfrm>
          <a:prstGeom prst="rect">
            <a:avLst/>
          </a:prstGeom>
          <a:noFill/>
        </p:spPr>
        <p:txBody>
          <a:bodyPr wrap="square">
            <a:spAutoFit/>
          </a:bodyPr>
          <a:lstStyle/>
          <a:p>
            <a:pPr>
              <a:lnSpc>
                <a:spcPct val="130000"/>
              </a:lnSpc>
              <a:defRPr sz="2200">
                <a:solidFill>
                  <a:srgbClr val="FFFFFF"/>
                </a:solidFill>
                <a:latin typeface="Segoe UI"/>
              </a:defRPr>
            </a:pPr>
            <a:r>
              <a:t>Identifikasi tujuan yang jelas</a:t>
            </a:r>
          </a:p>
        </p:txBody>
      </p:sp>
      <p:sp>
        <p:nvSpPr>
          <p:cNvPr id="7" name="Rounded Rectangle 6"/>
          <p:cNvSpPr/>
          <p:nvPr/>
        </p:nvSpPr>
        <p:spPr>
          <a:xfrm>
            <a:off x="914400" y="2834640"/>
            <a:ext cx="182880" cy="182880"/>
          </a:xfrm>
          <a:prstGeom prst="round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2697480"/>
            <a:ext cx="6766560" cy="640080"/>
          </a:xfrm>
          <a:prstGeom prst="rect">
            <a:avLst/>
          </a:prstGeom>
          <a:noFill/>
        </p:spPr>
        <p:txBody>
          <a:bodyPr wrap="square">
            <a:spAutoFit/>
          </a:bodyPr>
          <a:lstStyle/>
          <a:p>
            <a:pPr>
              <a:lnSpc>
                <a:spcPct val="130000"/>
              </a:lnSpc>
              <a:defRPr sz="2200">
                <a:solidFill>
                  <a:srgbClr val="FFFFFF"/>
                </a:solidFill>
                <a:latin typeface="Segoe UI"/>
              </a:defRPr>
            </a:pPr>
            <a:r>
              <a:t>Membangun tim yang berkomitmen</a:t>
            </a:r>
          </a:p>
        </p:txBody>
      </p:sp>
      <p:sp>
        <p:nvSpPr>
          <p:cNvPr id="9" name="Rounded Rectangle 8"/>
          <p:cNvSpPr/>
          <p:nvPr/>
        </p:nvSpPr>
        <p:spPr>
          <a:xfrm>
            <a:off x="914400" y="3657600"/>
            <a:ext cx="182880" cy="182880"/>
          </a:xfrm>
          <a:prstGeom prst="round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3520440"/>
            <a:ext cx="6766560" cy="640080"/>
          </a:xfrm>
          <a:prstGeom prst="rect">
            <a:avLst/>
          </a:prstGeom>
          <a:noFill/>
        </p:spPr>
        <p:txBody>
          <a:bodyPr wrap="square">
            <a:spAutoFit/>
          </a:bodyPr>
          <a:lstStyle/>
          <a:p>
            <a:pPr>
              <a:lnSpc>
                <a:spcPct val="130000"/>
              </a:lnSpc>
              <a:defRPr sz="2200">
                <a:solidFill>
                  <a:srgbClr val="FFFFFF"/>
                </a:solidFill>
                <a:latin typeface="Segoe UI"/>
              </a:defRPr>
            </a:pPr>
            <a:r>
              <a:t>Evaluasi dan sesuaikan secara berkala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182880"/>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none">
            <a:spAutoFit/>
          </a:bodyPr>
          <a:lstStyle/>
          <a:p>
            <a:pPr>
              <a:defRPr sz="3600" b="1">
                <a:solidFill>
                  <a:srgbClr val="00BCD4"/>
                </a:solidFill>
                <a:latin typeface="Segoe UI"/>
              </a:defRPr>
            </a:pPr>
            <a:r>
              <a:t>Studi Kasus: Sukses dengan EWE Paksa</a:t>
            </a:r>
          </a:p>
        </p:txBody>
      </p:sp>
      <p:sp>
        <p:nvSpPr>
          <p:cNvPr id="4" name="Rectangle 3"/>
          <p:cNvSpPr/>
          <p:nvPr/>
        </p:nvSpPr>
        <p:spPr>
          <a:xfrm>
            <a:off x="731520" y="1371600"/>
            <a:ext cx="1828800" cy="45720"/>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2011680"/>
            <a:ext cx="182880" cy="182880"/>
          </a:xfrm>
          <a:prstGeom prst="round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1874520"/>
            <a:ext cx="6766560" cy="640080"/>
          </a:xfrm>
          <a:prstGeom prst="rect">
            <a:avLst/>
          </a:prstGeom>
          <a:noFill/>
        </p:spPr>
        <p:txBody>
          <a:bodyPr wrap="square">
            <a:spAutoFit/>
          </a:bodyPr>
          <a:lstStyle/>
          <a:p>
            <a:pPr>
              <a:lnSpc>
                <a:spcPct val="130000"/>
              </a:lnSpc>
              <a:defRPr sz="2200">
                <a:solidFill>
                  <a:srgbClr val="FFFFFF"/>
                </a:solidFill>
                <a:latin typeface="Segoe UI"/>
              </a:defRPr>
            </a:pPr>
            <a:r>
              <a:t>Perusahaan A: Meningkatkan produktivitas hingga 30%</a:t>
            </a:r>
          </a:p>
        </p:txBody>
      </p:sp>
      <p:sp>
        <p:nvSpPr>
          <p:cNvPr id="7" name="Rounded Rectangle 6"/>
          <p:cNvSpPr/>
          <p:nvPr/>
        </p:nvSpPr>
        <p:spPr>
          <a:xfrm>
            <a:off x="914400" y="2834640"/>
            <a:ext cx="182880" cy="182880"/>
          </a:xfrm>
          <a:prstGeom prst="round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2697480"/>
            <a:ext cx="6766560" cy="640080"/>
          </a:xfrm>
          <a:prstGeom prst="rect">
            <a:avLst/>
          </a:prstGeom>
          <a:noFill/>
        </p:spPr>
        <p:txBody>
          <a:bodyPr wrap="square">
            <a:spAutoFit/>
          </a:bodyPr>
          <a:lstStyle/>
          <a:p>
            <a:pPr>
              <a:lnSpc>
                <a:spcPct val="130000"/>
              </a:lnSpc>
              <a:defRPr sz="2200">
                <a:solidFill>
                  <a:srgbClr val="FFFFFF"/>
                </a:solidFill>
                <a:latin typeface="Segoe UI"/>
              </a:defRPr>
            </a:pPr>
            <a:r>
              <a:t>Perusahaan B: Mempercepat time-to-market 50%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182880"/>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none">
            <a:spAutoFit/>
          </a:bodyPr>
          <a:lstStyle/>
          <a:p>
            <a:pPr>
              <a:defRPr sz="3600" b="1">
                <a:solidFill>
                  <a:srgbClr val="00BCD4"/>
                </a:solidFill>
                <a:latin typeface="Segoe UI"/>
              </a:defRPr>
            </a:pPr>
            <a:r>
              <a:t>Kesimpulan dan Tindakan Selanjutnya</a:t>
            </a:r>
          </a:p>
        </p:txBody>
      </p:sp>
      <p:sp>
        <p:nvSpPr>
          <p:cNvPr id="4" name="Rectangle 3"/>
          <p:cNvSpPr/>
          <p:nvPr/>
        </p:nvSpPr>
        <p:spPr>
          <a:xfrm>
            <a:off x="731520" y="1371600"/>
            <a:ext cx="1828800" cy="45720"/>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2011680"/>
            <a:ext cx="182880" cy="182880"/>
          </a:xfrm>
          <a:prstGeom prst="round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1874520"/>
            <a:ext cx="6766560" cy="640080"/>
          </a:xfrm>
          <a:prstGeom prst="rect">
            <a:avLst/>
          </a:prstGeom>
          <a:noFill/>
        </p:spPr>
        <p:txBody>
          <a:bodyPr wrap="square">
            <a:spAutoFit/>
          </a:bodyPr>
          <a:lstStyle/>
          <a:p>
            <a:pPr>
              <a:lnSpc>
                <a:spcPct val="130000"/>
              </a:lnSpc>
              <a:defRPr sz="2200">
                <a:solidFill>
                  <a:srgbClr val="FFFFFF"/>
                </a:solidFill>
                <a:latin typeface="Segoe UI"/>
              </a:defRPr>
            </a:pPr>
            <a:r>
              <a:t>EWE Paksa sebagai alat strategis</a:t>
            </a:r>
          </a:p>
        </p:txBody>
      </p:sp>
      <p:sp>
        <p:nvSpPr>
          <p:cNvPr id="7" name="Rounded Rectangle 6"/>
          <p:cNvSpPr/>
          <p:nvPr/>
        </p:nvSpPr>
        <p:spPr>
          <a:xfrm>
            <a:off x="914400" y="2834640"/>
            <a:ext cx="182880" cy="182880"/>
          </a:xfrm>
          <a:prstGeom prst="round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2697480"/>
            <a:ext cx="6766560" cy="640080"/>
          </a:xfrm>
          <a:prstGeom prst="rect">
            <a:avLst/>
          </a:prstGeom>
          <a:noFill/>
        </p:spPr>
        <p:txBody>
          <a:bodyPr wrap="square">
            <a:spAutoFit/>
          </a:bodyPr>
          <a:lstStyle/>
          <a:p>
            <a:pPr>
              <a:lnSpc>
                <a:spcPct val="130000"/>
              </a:lnSpc>
              <a:defRPr sz="2200">
                <a:solidFill>
                  <a:srgbClr val="FFFFFF"/>
                </a:solidFill>
                <a:latin typeface="Segoe UI"/>
              </a:defRPr>
            </a:pPr>
            <a:r>
              <a:t>Ajak tim untuk terlibat dalam proses</a:t>
            </a:r>
          </a:p>
        </p:txBody>
      </p:sp>
      <p:sp>
        <p:nvSpPr>
          <p:cNvPr id="9" name="Rounded Rectangle 8"/>
          <p:cNvSpPr/>
          <p:nvPr/>
        </p:nvSpPr>
        <p:spPr>
          <a:xfrm>
            <a:off x="914400" y="3657600"/>
            <a:ext cx="182880" cy="182880"/>
          </a:xfrm>
          <a:prstGeom prst="round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3520440"/>
            <a:ext cx="6766560" cy="640080"/>
          </a:xfrm>
          <a:prstGeom prst="rect">
            <a:avLst/>
          </a:prstGeom>
          <a:noFill/>
        </p:spPr>
        <p:txBody>
          <a:bodyPr wrap="square">
            <a:spAutoFit/>
          </a:bodyPr>
          <a:lstStyle/>
          <a:p>
            <a:pPr>
              <a:lnSpc>
                <a:spcPct val="130000"/>
              </a:lnSpc>
              <a:defRPr sz="2200">
                <a:solidFill>
                  <a:srgbClr val="FFFFFF"/>
                </a:solidFill>
                <a:latin typeface="Segoe UI"/>
              </a:defRPr>
            </a:pPr>
            <a:r>
              <a:t>Rencanakan sesi pelatihan dan evaluasi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Rectangle 1"/>
          <p:cNvSpPr/>
          <p:nvPr/>
        </p:nvSpPr>
        <p:spPr>
          <a:xfrm>
            <a:off x="0" y="0"/>
            <a:ext cx="9144000" cy="274320"/>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743200"/>
            <a:ext cx="7315200" cy="1371600"/>
          </a:xfrm>
          <a:prstGeom prst="rect">
            <a:avLst/>
          </a:prstGeom>
          <a:noFill/>
        </p:spPr>
        <p:txBody>
          <a:bodyPr wrap="none">
            <a:spAutoFit/>
          </a:bodyPr>
          <a:lstStyle/>
          <a:p>
            <a:pPr algn="ctr">
              <a:defRPr sz="6000" b="1">
                <a:solidFill>
                  <a:srgbClr val="00BCD4"/>
                </a:solidFill>
                <a:latin typeface="Segoe UI"/>
              </a:defRPr>
            </a:pPr>
            <a:r>
              <a:t>Thank You</a:t>
            </a:r>
          </a:p>
        </p:txBody>
      </p:sp>
      <p:sp>
        <p:nvSpPr>
          <p:cNvPr id="4" name="TextBox 3"/>
          <p:cNvSpPr txBox="1"/>
          <p:nvPr/>
        </p:nvSpPr>
        <p:spPr>
          <a:xfrm>
            <a:off x="914400" y="4389120"/>
            <a:ext cx="7315200" cy="457200"/>
          </a:xfrm>
          <a:prstGeom prst="rect">
            <a:avLst/>
          </a:prstGeom>
          <a:noFill/>
        </p:spPr>
        <p:txBody>
          <a:bodyPr wrap="none">
            <a:spAutoFit/>
          </a:bodyPr>
          <a:lstStyle/>
          <a:p>
            <a:pPr algn="ctr">
              <a:defRPr sz="2400">
                <a:solidFill>
                  <a:srgbClr val="FFFFFF"/>
                </a:solidFill>
                <a:latin typeface="Segoe UI Light"/>
              </a:defRPr>
            </a:pPr>
            <a:r>
              <a:t>Questions &amp; Discussion</a:t>
            </a:r>
          </a:p>
        </p:txBody>
      </p:sp>
      <p:sp>
        <p:nvSpPr>
          <p:cNvPr id="5" name="Rounded Rectangle 4"/>
          <p:cNvSpPr/>
          <p:nvPr/>
        </p:nvSpPr>
        <p:spPr>
          <a:xfrm>
            <a:off x="3657600" y="5486400"/>
            <a:ext cx="1828800" cy="457200"/>
          </a:xfrm>
          <a:prstGeom prst="round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
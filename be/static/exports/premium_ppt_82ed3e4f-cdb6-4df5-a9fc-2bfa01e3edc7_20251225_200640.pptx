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880E4F"/>
        </a:solidFill>
        <a:effectLst/>
      </p:bgPr>
    </p:bg>
    <p:spTree>
      <p:nvGrpSpPr>
        <p:cNvPr id="1" name=""/>
        <p:cNvGrpSpPr/>
        <p:nvPr/>
      </p:nvGrpSpPr>
      <p:grpSpPr/>
      <p:sp>
        <p:nvSpPr>
          <p:cNvPr id="2" name="Rectangle 1"/>
          <p:cNvSpPr/>
          <p:nvPr/>
        </p:nvSpPr>
        <p:spPr>
          <a:xfrm>
            <a:off x="0" y="0"/>
            <a:ext cx="9144000" cy="27432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1828800"/>
          </a:xfrm>
          <a:prstGeom prst="rect">
            <a:avLst/>
          </a:prstGeom>
          <a:noFill/>
        </p:spPr>
        <p:txBody>
          <a:bodyPr wrap="square">
            <a:spAutoFit/>
          </a:bodyPr>
          <a:lstStyle/>
          <a:p>
            <a:pPr algn="ctr">
              <a:defRPr sz="5400" b="1">
                <a:solidFill>
                  <a:srgbClr val="FFFFFF"/>
                </a:solidFill>
                <a:latin typeface="Segoe UI"/>
              </a:defRPr>
            </a:pPr>
            <a:r>
              <a:t>Meningkatkan Kesehatan Melalui Pemahaman Kencing</a:t>
            </a:r>
          </a:p>
        </p:txBody>
      </p:sp>
      <p:sp>
        <p:nvSpPr>
          <p:cNvPr id="4" name="TextBox 3"/>
          <p:cNvSpPr txBox="1"/>
          <p:nvPr/>
        </p:nvSpPr>
        <p:spPr>
          <a:xfrm>
            <a:off x="914400" y="4572000"/>
            <a:ext cx="7315200" cy="731520"/>
          </a:xfrm>
          <a:prstGeom prst="rect">
            <a:avLst/>
          </a:prstGeom>
          <a:noFill/>
        </p:spPr>
        <p:txBody>
          <a:bodyPr wrap="none">
            <a:spAutoFit/>
          </a:bodyPr>
          <a:lstStyle/>
          <a:p>
            <a:pPr algn="ctr">
              <a:defRPr sz="2000">
                <a:solidFill>
                  <a:srgbClr val="FF4081"/>
                </a:solidFill>
                <a:latin typeface="Segoe UI Light"/>
              </a:defRPr>
            </a:pPr>
            <a:r>
              <a:t>Premium Presentation • December 25, 2025</a:t>
            </a:r>
          </a:p>
        </p:txBody>
      </p:sp>
      <p:sp>
        <p:nvSpPr>
          <p:cNvPr id="5" name="Rounded Rectangle 4"/>
          <p:cNvSpPr/>
          <p:nvPr/>
        </p:nvSpPr>
        <p:spPr>
          <a:xfrm>
            <a:off x="3657600" y="5943600"/>
            <a:ext cx="1828800" cy="45720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880E4F"/>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4000" b="1">
                <a:solidFill>
                  <a:srgbClr val="FF4081"/>
                </a:solidFill>
                <a:latin typeface="Segoe UI"/>
              </a:defRPr>
            </a:pPr>
            <a:r>
              <a:t>Executive Summary</a:t>
            </a:r>
          </a:p>
        </p:txBody>
      </p:sp>
      <p:sp>
        <p:nvSpPr>
          <p:cNvPr id="4" name="TextBox 3"/>
          <p:cNvSpPr txBox="1"/>
          <p:nvPr/>
        </p:nvSpPr>
        <p:spPr>
          <a:xfrm>
            <a:off x="731520" y="1645920"/>
            <a:ext cx="7680960" cy="1828800"/>
          </a:xfrm>
          <a:prstGeom prst="rect">
            <a:avLst/>
          </a:prstGeom>
          <a:noFill/>
        </p:spPr>
        <p:txBody>
          <a:bodyPr wrap="square">
            <a:spAutoFit/>
          </a:bodyPr>
          <a:lstStyle/>
          <a:p>
            <a:pPr>
              <a:lnSpc>
                <a:spcPct val="150000"/>
              </a:lnSpc>
              <a:defRPr sz="1800">
                <a:solidFill>
                  <a:srgbClr val="FFFFFF"/>
                </a:solidFill>
                <a:latin typeface="Segoe UI"/>
              </a:defRPr>
            </a:pPr>
            <a:r>
              <a:t>Presentasi ini memberikan wawasan mendalam mengenai kesehatan sistem kemih, pentingnya pemahaman kencing, dan bagaimana strategi pencegahan dapat meningkatkan kualitas hidup. Dengan data dan statistik terkini, kita akan mengeksplorasi cara efektif untuk menjaga kesehatan kemih.</a:t>
            </a:r>
          </a:p>
        </p:txBody>
      </p:sp>
      <p:sp>
        <p:nvSpPr>
          <p:cNvPr id="5" name="Oval 4"/>
          <p:cNvSpPr/>
          <p:nvPr/>
        </p:nvSpPr>
        <p:spPr>
          <a:xfrm>
            <a:off x="914400" y="3840480"/>
            <a:ext cx="137160" cy="137160"/>
          </a:xfrm>
          <a:prstGeom prst="ellipse">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3749040"/>
            <a:ext cx="6858000" cy="457200"/>
          </a:xfrm>
          <a:prstGeom prst="rect">
            <a:avLst/>
          </a:prstGeom>
          <a:noFill/>
        </p:spPr>
        <p:txBody>
          <a:bodyPr wrap="none">
            <a:spAutoFit/>
          </a:bodyPr>
          <a:lstStyle/>
          <a:p>
            <a:pPr>
              <a:defRPr sz="1600">
                <a:solidFill>
                  <a:srgbClr val="FFFFFF"/>
                </a:solidFill>
                <a:latin typeface="Segoe UI"/>
              </a:defRPr>
            </a:pPr>
            <a:r>
              <a:t>Kesadaran akan kesehatan kemih adalah kunci untuk mencegah penyakit.</a:t>
            </a:r>
          </a:p>
        </p:txBody>
      </p:sp>
      <p:sp>
        <p:nvSpPr>
          <p:cNvPr id="7" name="Oval 6"/>
          <p:cNvSpPr/>
          <p:nvPr/>
        </p:nvSpPr>
        <p:spPr>
          <a:xfrm>
            <a:off x="914400" y="4389120"/>
            <a:ext cx="137160" cy="137160"/>
          </a:xfrm>
          <a:prstGeom prst="ellipse">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4297680"/>
            <a:ext cx="6858000" cy="457200"/>
          </a:xfrm>
          <a:prstGeom prst="rect">
            <a:avLst/>
          </a:prstGeom>
          <a:noFill/>
        </p:spPr>
        <p:txBody>
          <a:bodyPr wrap="none">
            <a:spAutoFit/>
          </a:bodyPr>
          <a:lstStyle/>
          <a:p>
            <a:pPr>
              <a:defRPr sz="1600">
                <a:solidFill>
                  <a:srgbClr val="FFFFFF"/>
                </a:solidFill>
                <a:latin typeface="Segoe UI"/>
              </a:defRPr>
            </a:pPr>
            <a:r>
              <a:t>Pola hidup sehat dapat mengurangi risiko masalah sistem kemih.</a:t>
            </a:r>
          </a:p>
        </p:txBody>
      </p:sp>
      <p:sp>
        <p:nvSpPr>
          <p:cNvPr id="9" name="Oval 8"/>
          <p:cNvSpPr/>
          <p:nvPr/>
        </p:nvSpPr>
        <p:spPr>
          <a:xfrm>
            <a:off x="914400" y="4937760"/>
            <a:ext cx="137160" cy="137160"/>
          </a:xfrm>
          <a:prstGeom prst="ellipse">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188720" y="4846320"/>
            <a:ext cx="6858000" cy="457200"/>
          </a:xfrm>
          <a:prstGeom prst="rect">
            <a:avLst/>
          </a:prstGeom>
          <a:noFill/>
        </p:spPr>
        <p:txBody>
          <a:bodyPr wrap="none">
            <a:spAutoFit/>
          </a:bodyPr>
          <a:lstStyle/>
          <a:p>
            <a:pPr>
              <a:defRPr sz="1600">
                <a:solidFill>
                  <a:srgbClr val="FFFFFF"/>
                </a:solidFill>
                <a:latin typeface="Segoe UI"/>
              </a:defRPr>
            </a:pPr>
            <a:r>
              <a:t>Pentingnya pemeriksaan rutin untuk deteksi dini.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880E4F"/>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4081"/>
                </a:solidFill>
                <a:latin typeface="Segoe UI"/>
              </a:defRPr>
            </a:pPr>
            <a:r>
              <a:t>Mengapa Kesehatan Kencing Penting?</a:t>
            </a:r>
          </a:p>
        </p:txBody>
      </p:sp>
      <p:sp>
        <p:nvSpPr>
          <p:cNvPr id="4" name="Rectangle 3"/>
          <p:cNvSpPr/>
          <p:nvPr/>
        </p:nvSpPr>
        <p:spPr>
          <a:xfrm>
            <a:off x="731520" y="1371600"/>
            <a:ext cx="1828800" cy="4572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1 dari 10 orang mengalami masalah kesehatan kemih.</a:t>
            </a:r>
          </a:p>
        </p:txBody>
      </p:sp>
      <p:sp>
        <p:nvSpPr>
          <p:cNvPr id="7" name="Rounded Rectangle 6"/>
          <p:cNvSpPr/>
          <p:nvPr/>
        </p:nvSpPr>
        <p:spPr>
          <a:xfrm>
            <a:off x="914400" y="283464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Mengurangi risiko infeksi dan penyakit serius.</a:t>
            </a:r>
          </a:p>
        </p:txBody>
      </p:sp>
      <p:sp>
        <p:nvSpPr>
          <p:cNvPr id="9" name="Rounded Rectangle 8"/>
          <p:cNvSpPr/>
          <p:nvPr/>
        </p:nvSpPr>
        <p:spPr>
          <a:xfrm>
            <a:off x="914400" y="365760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Mencegah komplikasi jangka panjang.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880E4F"/>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4081"/>
                </a:solidFill>
                <a:latin typeface="Segoe UI"/>
              </a:defRPr>
            </a:pPr>
            <a:r>
              <a:t>Faktor Risiko Masalah Kencing</a:t>
            </a:r>
          </a:p>
        </p:txBody>
      </p:sp>
      <p:sp>
        <p:nvSpPr>
          <p:cNvPr id="4" name="Rectangle 3"/>
          <p:cNvSpPr/>
          <p:nvPr/>
        </p:nvSpPr>
        <p:spPr>
          <a:xfrm>
            <a:off x="731520" y="1371600"/>
            <a:ext cx="1828800" cy="4572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Dehidrasi berkepanjangan.</a:t>
            </a:r>
          </a:p>
        </p:txBody>
      </p:sp>
      <p:sp>
        <p:nvSpPr>
          <p:cNvPr id="7" name="Rounded Rectangle 6"/>
          <p:cNvSpPr/>
          <p:nvPr/>
        </p:nvSpPr>
        <p:spPr>
          <a:xfrm>
            <a:off x="914400" y="283464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Pola makan tidak sehat.</a:t>
            </a:r>
          </a:p>
        </p:txBody>
      </p:sp>
      <p:sp>
        <p:nvSpPr>
          <p:cNvPr id="9" name="Rounded Rectangle 8"/>
          <p:cNvSpPr/>
          <p:nvPr/>
        </p:nvSpPr>
        <p:spPr>
          <a:xfrm>
            <a:off x="914400" y="365760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Kurangnya aktivitas fisik.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880E4F"/>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4081"/>
                </a:solidFill>
                <a:latin typeface="Segoe UI"/>
              </a:defRPr>
            </a:pPr>
            <a:r>
              <a:t>Sebelum vs Sesudah: Perubahan Gaya Hidup</a:t>
            </a:r>
          </a:p>
        </p:txBody>
      </p:sp>
      <p:sp>
        <p:nvSpPr>
          <p:cNvPr id="4" name="TextBox 3"/>
          <p:cNvSpPr txBox="1"/>
          <p:nvPr/>
        </p:nvSpPr>
        <p:spPr>
          <a:xfrm>
            <a:off x="731520" y="1645920"/>
            <a:ext cx="3657600" cy="457200"/>
          </a:xfrm>
          <a:prstGeom prst="rect">
            <a:avLst/>
          </a:prstGeom>
          <a:noFill/>
        </p:spPr>
        <p:txBody>
          <a:bodyPr wrap="none">
            <a:spAutoFit/>
          </a:bodyPr>
          <a:lstStyle/>
          <a:p>
            <a:pPr algn="ctr">
              <a:defRPr sz="2400" b="1">
                <a:solidFill>
                  <a:srgbClr val="FF4081"/>
                </a:solidFill>
                <a:latin typeface="Segoe UI"/>
              </a:defRPr>
            </a:pPr>
            <a:r>
              <a:t>Sebelum / Tantangan</a:t>
            </a:r>
          </a:p>
        </p:txBody>
      </p:sp>
      <p:sp>
        <p:nvSpPr>
          <p:cNvPr id="5" name="TextBox 4"/>
          <p:cNvSpPr txBox="1"/>
          <p:nvPr/>
        </p:nvSpPr>
        <p:spPr>
          <a:xfrm>
            <a:off x="914400" y="2286000"/>
            <a:ext cx="3291840" cy="548640"/>
          </a:xfrm>
          <a:prstGeom prst="rect">
            <a:avLst/>
          </a:prstGeom>
          <a:noFill/>
        </p:spPr>
        <p:txBody>
          <a:bodyPr wrap="square">
            <a:spAutoFit/>
          </a:bodyPr>
          <a:lstStyle/>
          <a:p>
            <a:pPr>
              <a:defRPr sz="1800">
                <a:solidFill>
                  <a:srgbClr val="FFFFFF"/>
                </a:solidFill>
                <a:latin typeface="Segoe UI"/>
              </a:defRPr>
            </a:pPr>
            <a:r>
              <a:t>• Konsumsi air yang kurang.</a:t>
            </a:r>
          </a:p>
        </p:txBody>
      </p:sp>
      <p:sp>
        <p:nvSpPr>
          <p:cNvPr id="6" name="TextBox 5"/>
          <p:cNvSpPr txBox="1"/>
          <p:nvPr/>
        </p:nvSpPr>
        <p:spPr>
          <a:xfrm>
            <a:off x="914400" y="3017520"/>
            <a:ext cx="3291840" cy="548640"/>
          </a:xfrm>
          <a:prstGeom prst="rect">
            <a:avLst/>
          </a:prstGeom>
          <a:noFill/>
        </p:spPr>
        <p:txBody>
          <a:bodyPr wrap="square">
            <a:spAutoFit/>
          </a:bodyPr>
          <a:lstStyle/>
          <a:p>
            <a:pPr>
              <a:defRPr sz="1800">
                <a:solidFill>
                  <a:srgbClr val="FFFFFF"/>
                </a:solidFill>
                <a:latin typeface="Segoe UI"/>
              </a:defRPr>
            </a:pPr>
            <a:r>
              <a:t>• Sering menahan kencing.</a:t>
            </a:r>
          </a:p>
        </p:txBody>
      </p:sp>
      <p:sp>
        <p:nvSpPr>
          <p:cNvPr id="7" name="TextBox 6"/>
          <p:cNvSpPr txBox="1"/>
          <p:nvPr/>
        </p:nvSpPr>
        <p:spPr>
          <a:xfrm>
            <a:off x="914400" y="3749039"/>
            <a:ext cx="3291840" cy="548640"/>
          </a:xfrm>
          <a:prstGeom prst="rect">
            <a:avLst/>
          </a:prstGeom>
          <a:noFill/>
        </p:spPr>
        <p:txBody>
          <a:bodyPr wrap="square">
            <a:spAutoFit/>
          </a:bodyPr>
          <a:lstStyle/>
          <a:p>
            <a:pPr>
              <a:defRPr sz="1800">
                <a:solidFill>
                  <a:srgbClr val="FFFFFF"/>
                </a:solidFill>
                <a:latin typeface="Segoe UI"/>
              </a:defRPr>
            </a:pPr>
            <a:r>
              <a:t>• Kurangnya pemeriksaan kesehatan.</a:t>
            </a:r>
          </a:p>
        </p:txBody>
      </p:sp>
      <p:sp>
        <p:nvSpPr>
          <p:cNvPr id="8" name="Rectangle 7"/>
          <p:cNvSpPr/>
          <p:nvPr/>
        </p:nvSpPr>
        <p:spPr>
          <a:xfrm>
            <a:off x="4480560" y="1645920"/>
            <a:ext cx="91440" cy="457200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754880" y="1645920"/>
            <a:ext cx="3657600" cy="457200"/>
          </a:xfrm>
          <a:prstGeom prst="rect">
            <a:avLst/>
          </a:prstGeom>
          <a:noFill/>
        </p:spPr>
        <p:txBody>
          <a:bodyPr wrap="none">
            <a:spAutoFit/>
          </a:bodyPr>
          <a:lstStyle/>
          <a:p>
            <a:pPr algn="ctr">
              <a:defRPr sz="2400" b="1">
                <a:solidFill>
                  <a:srgbClr val="FF4081"/>
                </a:solidFill>
                <a:latin typeface="Segoe UI"/>
              </a:defRPr>
            </a:pPr>
            <a:r>
              <a:t>Sesudah / Solusi</a:t>
            </a:r>
          </a:p>
        </p:txBody>
      </p:sp>
      <p:sp>
        <p:nvSpPr>
          <p:cNvPr id="10" name="TextBox 9"/>
          <p:cNvSpPr txBox="1"/>
          <p:nvPr/>
        </p:nvSpPr>
        <p:spPr>
          <a:xfrm>
            <a:off x="4937760" y="2286000"/>
            <a:ext cx="3291840" cy="548640"/>
          </a:xfrm>
          <a:prstGeom prst="rect">
            <a:avLst/>
          </a:prstGeom>
          <a:noFill/>
        </p:spPr>
        <p:txBody>
          <a:bodyPr wrap="square">
            <a:spAutoFit/>
          </a:bodyPr>
          <a:lstStyle/>
          <a:p>
            <a:pPr>
              <a:defRPr sz="1800">
                <a:solidFill>
                  <a:srgbClr val="FFFFFF"/>
                </a:solidFill>
                <a:latin typeface="Segoe UI"/>
              </a:defRPr>
            </a:pPr>
            <a:r>
              <a:t>• Menerapkan pola minum yang baik.</a:t>
            </a:r>
          </a:p>
        </p:txBody>
      </p:sp>
      <p:sp>
        <p:nvSpPr>
          <p:cNvPr id="11" name="TextBox 10"/>
          <p:cNvSpPr txBox="1"/>
          <p:nvPr/>
        </p:nvSpPr>
        <p:spPr>
          <a:xfrm>
            <a:off x="4937760" y="3017520"/>
            <a:ext cx="3291840" cy="548640"/>
          </a:xfrm>
          <a:prstGeom prst="rect">
            <a:avLst/>
          </a:prstGeom>
          <a:noFill/>
        </p:spPr>
        <p:txBody>
          <a:bodyPr wrap="square">
            <a:spAutoFit/>
          </a:bodyPr>
          <a:lstStyle/>
          <a:p>
            <a:pPr>
              <a:defRPr sz="1800">
                <a:solidFill>
                  <a:srgbClr val="FFFFFF"/>
                </a:solidFill>
                <a:latin typeface="Segoe UI"/>
              </a:defRPr>
            </a:pPr>
            <a:r>
              <a:t>• Meluangkan waktu untuk berolahraga.</a:t>
            </a:r>
          </a:p>
        </p:txBody>
      </p:sp>
      <p:sp>
        <p:nvSpPr>
          <p:cNvPr id="12" name="TextBox 11"/>
          <p:cNvSpPr txBox="1"/>
          <p:nvPr/>
        </p:nvSpPr>
        <p:spPr>
          <a:xfrm>
            <a:off x="4937760" y="3749039"/>
            <a:ext cx="3291840" cy="548640"/>
          </a:xfrm>
          <a:prstGeom prst="rect">
            <a:avLst/>
          </a:prstGeom>
          <a:noFill/>
        </p:spPr>
        <p:txBody>
          <a:bodyPr wrap="square">
            <a:spAutoFit/>
          </a:bodyPr>
          <a:lstStyle/>
          <a:p>
            <a:pPr>
              <a:defRPr sz="1800">
                <a:solidFill>
                  <a:srgbClr val="FFFFFF"/>
                </a:solidFill>
                <a:latin typeface="Segoe UI"/>
              </a:defRPr>
            </a:pPr>
            <a:r>
              <a:t>• Melakukan pemeriksaan kesehatan secara rutin.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880E4F"/>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4081"/>
                </a:solidFill>
                <a:latin typeface="Segoe UI"/>
              </a:defRPr>
            </a:pPr>
            <a:r>
              <a:t>Strategi Pencegahan</a:t>
            </a:r>
          </a:p>
        </p:txBody>
      </p:sp>
      <p:sp>
        <p:nvSpPr>
          <p:cNvPr id="4" name="Rectangle 3"/>
          <p:cNvSpPr/>
          <p:nvPr/>
        </p:nvSpPr>
        <p:spPr>
          <a:xfrm>
            <a:off x="731520" y="1371600"/>
            <a:ext cx="1828800" cy="4572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Tingkatkan asupan air harian.</a:t>
            </a:r>
          </a:p>
        </p:txBody>
      </p:sp>
      <p:sp>
        <p:nvSpPr>
          <p:cNvPr id="7" name="Rounded Rectangle 6"/>
          <p:cNvSpPr/>
          <p:nvPr/>
        </p:nvSpPr>
        <p:spPr>
          <a:xfrm>
            <a:off x="914400" y="283464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Jaga kebersihan pribadi.</a:t>
            </a:r>
          </a:p>
        </p:txBody>
      </p:sp>
      <p:sp>
        <p:nvSpPr>
          <p:cNvPr id="9" name="Rounded Rectangle 8"/>
          <p:cNvSpPr/>
          <p:nvPr/>
        </p:nvSpPr>
        <p:spPr>
          <a:xfrm>
            <a:off x="914400" y="365760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Pilih makanan yang mendukung kesehatan kemih.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880E4F"/>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4081"/>
                </a:solidFill>
                <a:latin typeface="Segoe UI"/>
              </a:defRPr>
            </a:pPr>
            <a:r>
              <a:t>Langkah Selanjutnya</a:t>
            </a:r>
          </a:p>
        </p:txBody>
      </p:sp>
      <p:sp>
        <p:nvSpPr>
          <p:cNvPr id="4" name="Rectangle 3"/>
          <p:cNvSpPr/>
          <p:nvPr/>
        </p:nvSpPr>
        <p:spPr>
          <a:xfrm>
            <a:off x="731520" y="1371600"/>
            <a:ext cx="1828800" cy="4572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Edukasi diri tentang kesehatan kemih.</a:t>
            </a:r>
          </a:p>
        </p:txBody>
      </p:sp>
      <p:sp>
        <p:nvSpPr>
          <p:cNvPr id="7" name="Rounded Rectangle 6"/>
          <p:cNvSpPr/>
          <p:nvPr/>
        </p:nvSpPr>
        <p:spPr>
          <a:xfrm>
            <a:off x="914400" y="283464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Konsultasi dengan tenaga medis secara berkala.</a:t>
            </a:r>
          </a:p>
        </p:txBody>
      </p:sp>
      <p:sp>
        <p:nvSpPr>
          <p:cNvPr id="9" name="Rounded Rectangle 8"/>
          <p:cNvSpPr/>
          <p:nvPr/>
        </p:nvSpPr>
        <p:spPr>
          <a:xfrm>
            <a:off x="914400" y="365760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Berpartisipasi dalam program kesehatan masyarakat.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880E4F"/>
        </a:solidFill>
        <a:effectLst/>
      </p:bgPr>
    </p:bg>
    <p:spTree>
      <p:nvGrpSpPr>
        <p:cNvPr id="1" name=""/>
        <p:cNvGrpSpPr/>
        <p:nvPr/>
      </p:nvGrpSpPr>
      <p:grpSpPr/>
      <p:sp>
        <p:nvSpPr>
          <p:cNvPr id="2" name="Rectangle 1"/>
          <p:cNvSpPr/>
          <p:nvPr/>
        </p:nvSpPr>
        <p:spPr>
          <a:xfrm>
            <a:off x="0" y="0"/>
            <a:ext cx="9144000" cy="18288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none">
            <a:spAutoFit/>
          </a:bodyPr>
          <a:lstStyle/>
          <a:p>
            <a:pPr>
              <a:defRPr sz="3600" b="1">
                <a:solidFill>
                  <a:srgbClr val="FF4081"/>
                </a:solidFill>
                <a:latin typeface="Segoe UI"/>
              </a:defRPr>
            </a:pPr>
            <a:r>
              <a:t>Kesimpulan</a:t>
            </a:r>
          </a:p>
        </p:txBody>
      </p:sp>
      <p:sp>
        <p:nvSpPr>
          <p:cNvPr id="4" name="Rectangle 3"/>
          <p:cNvSpPr/>
          <p:nvPr/>
        </p:nvSpPr>
        <p:spPr>
          <a:xfrm>
            <a:off x="731520" y="1371600"/>
            <a:ext cx="1828800" cy="4572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201168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280160" y="1874520"/>
            <a:ext cx="6766560" cy="640080"/>
          </a:xfrm>
          <a:prstGeom prst="rect">
            <a:avLst/>
          </a:prstGeom>
          <a:noFill/>
        </p:spPr>
        <p:txBody>
          <a:bodyPr wrap="square">
            <a:spAutoFit/>
          </a:bodyPr>
          <a:lstStyle/>
          <a:p>
            <a:pPr>
              <a:lnSpc>
                <a:spcPct val="130000"/>
              </a:lnSpc>
              <a:defRPr sz="2200">
                <a:solidFill>
                  <a:srgbClr val="FFFFFF"/>
                </a:solidFill>
                <a:latin typeface="Segoe UI"/>
              </a:defRPr>
            </a:pPr>
            <a:r>
              <a:t>Kesehatan kemih berdampak langsung pada kualitas hidup.</a:t>
            </a:r>
          </a:p>
        </p:txBody>
      </p:sp>
      <p:sp>
        <p:nvSpPr>
          <p:cNvPr id="7" name="Rounded Rectangle 6"/>
          <p:cNvSpPr/>
          <p:nvPr/>
        </p:nvSpPr>
        <p:spPr>
          <a:xfrm>
            <a:off x="914400" y="283464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280160" y="2697480"/>
            <a:ext cx="6766560" cy="640080"/>
          </a:xfrm>
          <a:prstGeom prst="rect">
            <a:avLst/>
          </a:prstGeom>
          <a:noFill/>
        </p:spPr>
        <p:txBody>
          <a:bodyPr wrap="square">
            <a:spAutoFit/>
          </a:bodyPr>
          <a:lstStyle/>
          <a:p>
            <a:pPr>
              <a:lnSpc>
                <a:spcPct val="130000"/>
              </a:lnSpc>
              <a:defRPr sz="2200">
                <a:solidFill>
                  <a:srgbClr val="FFFFFF"/>
                </a:solidFill>
                <a:latin typeface="Segoe UI"/>
              </a:defRPr>
            </a:pPr>
            <a:r>
              <a:t>Pencegahan lebih baik daripada pengobatan.</a:t>
            </a:r>
          </a:p>
        </p:txBody>
      </p:sp>
      <p:sp>
        <p:nvSpPr>
          <p:cNvPr id="9" name="Rounded Rectangle 8"/>
          <p:cNvSpPr/>
          <p:nvPr/>
        </p:nvSpPr>
        <p:spPr>
          <a:xfrm>
            <a:off x="914400" y="3657600"/>
            <a:ext cx="182880" cy="18288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80160" y="3520440"/>
            <a:ext cx="6766560" cy="640080"/>
          </a:xfrm>
          <a:prstGeom prst="rect">
            <a:avLst/>
          </a:prstGeom>
          <a:noFill/>
        </p:spPr>
        <p:txBody>
          <a:bodyPr wrap="square">
            <a:spAutoFit/>
          </a:bodyPr>
          <a:lstStyle/>
          <a:p>
            <a:pPr>
              <a:lnSpc>
                <a:spcPct val="130000"/>
              </a:lnSpc>
              <a:defRPr sz="2200">
                <a:solidFill>
                  <a:srgbClr val="FFFFFF"/>
                </a:solidFill>
                <a:latin typeface="Segoe UI"/>
              </a:defRPr>
            </a:pPr>
            <a:r>
              <a:t>Investasi dalam kesehatan kemih adalah investasi untuk masa depan.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880E4F"/>
        </a:solidFill>
        <a:effectLst/>
      </p:bgPr>
    </p:bg>
    <p:spTree>
      <p:nvGrpSpPr>
        <p:cNvPr id="1" name=""/>
        <p:cNvGrpSpPr/>
        <p:nvPr/>
      </p:nvGrpSpPr>
      <p:grpSpPr/>
      <p:sp>
        <p:nvSpPr>
          <p:cNvPr id="2" name="Rectangle 1"/>
          <p:cNvSpPr/>
          <p:nvPr/>
        </p:nvSpPr>
        <p:spPr>
          <a:xfrm>
            <a:off x="0" y="0"/>
            <a:ext cx="9144000" cy="274320"/>
          </a:xfrm>
          <a:prstGeom prst="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743200"/>
            <a:ext cx="7315200" cy="1371600"/>
          </a:xfrm>
          <a:prstGeom prst="rect">
            <a:avLst/>
          </a:prstGeom>
          <a:noFill/>
        </p:spPr>
        <p:txBody>
          <a:bodyPr wrap="none">
            <a:spAutoFit/>
          </a:bodyPr>
          <a:lstStyle/>
          <a:p>
            <a:pPr algn="ctr">
              <a:defRPr sz="6000" b="1">
                <a:solidFill>
                  <a:srgbClr val="FF4081"/>
                </a:solidFill>
                <a:latin typeface="Segoe UI"/>
              </a:defRPr>
            </a:pPr>
            <a:r>
              <a:t>Thank You</a:t>
            </a:r>
          </a:p>
        </p:txBody>
      </p:sp>
      <p:sp>
        <p:nvSpPr>
          <p:cNvPr id="4" name="TextBox 3"/>
          <p:cNvSpPr txBox="1"/>
          <p:nvPr/>
        </p:nvSpPr>
        <p:spPr>
          <a:xfrm>
            <a:off x="914400" y="4389120"/>
            <a:ext cx="7315200" cy="457200"/>
          </a:xfrm>
          <a:prstGeom prst="rect">
            <a:avLst/>
          </a:prstGeom>
          <a:noFill/>
        </p:spPr>
        <p:txBody>
          <a:bodyPr wrap="none">
            <a:spAutoFit/>
          </a:bodyPr>
          <a:lstStyle/>
          <a:p>
            <a:pPr algn="ctr">
              <a:defRPr sz="2400">
                <a:solidFill>
                  <a:srgbClr val="FFFFFF"/>
                </a:solidFill>
                <a:latin typeface="Segoe UI Light"/>
              </a:defRPr>
            </a:pPr>
            <a:r>
              <a:t>Questions &amp; Discussion</a:t>
            </a:r>
          </a:p>
        </p:txBody>
      </p:sp>
      <p:sp>
        <p:nvSpPr>
          <p:cNvPr id="5" name="Rounded Rectangle 4"/>
          <p:cNvSpPr/>
          <p:nvPr/>
        </p:nvSpPr>
        <p:spPr>
          <a:xfrm>
            <a:off x="3657600" y="5486400"/>
            <a:ext cx="1828800" cy="457200"/>
          </a:xfrm>
          <a:prstGeom prst="roundRect">
            <a:avLst/>
          </a:prstGeom>
          <a:solidFill>
            <a:srgbClr val="FF40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